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F8A197-623A-4449-B787-91EF2C12F42F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41D33D-CC9B-4E6B-B289-0422CC8A7C58}">
      <dgm:prSet/>
      <dgm:spPr/>
      <dgm:t>
        <a:bodyPr/>
        <a:lstStyle/>
        <a:p>
          <a:r>
            <a:rPr lang="es-ES"/>
            <a:t>Definición</a:t>
          </a:r>
          <a:r>
            <a:rPr lang="en-US"/>
            <a:t>​</a:t>
          </a:r>
        </a:p>
      </dgm:t>
    </dgm:pt>
    <dgm:pt modelId="{69485F17-AB70-4DB4-B1BF-1C6BD4E51B63}" type="parTrans" cxnId="{B39EB33C-0E71-4685-8B85-3EF75DAB4792}">
      <dgm:prSet/>
      <dgm:spPr/>
      <dgm:t>
        <a:bodyPr/>
        <a:lstStyle/>
        <a:p>
          <a:endParaRPr lang="en-US"/>
        </a:p>
      </dgm:t>
    </dgm:pt>
    <dgm:pt modelId="{31784CDB-DCA8-4234-91E0-AE5EC03C2A2F}" type="sibTrans" cxnId="{B39EB33C-0E71-4685-8B85-3EF75DAB4792}">
      <dgm:prSet/>
      <dgm:spPr/>
      <dgm:t>
        <a:bodyPr/>
        <a:lstStyle/>
        <a:p>
          <a:endParaRPr lang="en-US"/>
        </a:p>
      </dgm:t>
    </dgm:pt>
    <dgm:pt modelId="{3B47C25F-3E0B-4897-AB8E-862E3D6359B3}">
      <dgm:prSet/>
      <dgm:spPr/>
      <dgm:t>
        <a:bodyPr/>
        <a:lstStyle/>
        <a:p>
          <a:r>
            <a:rPr lang="es-ES"/>
            <a:t>Estructura</a:t>
          </a:r>
          <a:r>
            <a:rPr lang="en-US"/>
            <a:t>​</a:t>
          </a:r>
        </a:p>
      </dgm:t>
    </dgm:pt>
    <dgm:pt modelId="{FB79ADAD-9D1D-4118-9102-1091EBF256E6}" type="parTrans" cxnId="{8D49C272-1645-40B0-AEA0-7D363E92A3C2}">
      <dgm:prSet/>
      <dgm:spPr/>
      <dgm:t>
        <a:bodyPr/>
        <a:lstStyle/>
        <a:p>
          <a:endParaRPr lang="en-US"/>
        </a:p>
      </dgm:t>
    </dgm:pt>
    <dgm:pt modelId="{9392B087-E28C-4FE1-9A7C-7C1513DBDB22}" type="sibTrans" cxnId="{8D49C272-1645-40B0-AEA0-7D363E92A3C2}">
      <dgm:prSet/>
      <dgm:spPr/>
      <dgm:t>
        <a:bodyPr/>
        <a:lstStyle/>
        <a:p>
          <a:endParaRPr lang="en-US"/>
        </a:p>
      </dgm:t>
    </dgm:pt>
    <dgm:pt modelId="{D829D27E-F025-4A3C-8D00-1C1E39D060CC}">
      <dgm:prSet/>
      <dgm:spPr/>
      <dgm:t>
        <a:bodyPr/>
        <a:lstStyle/>
        <a:p>
          <a:r>
            <a:rPr lang="es-ES"/>
            <a:t>Ejemplos</a:t>
          </a:r>
          <a:r>
            <a:rPr lang="en-US"/>
            <a:t>​</a:t>
          </a:r>
        </a:p>
      </dgm:t>
    </dgm:pt>
    <dgm:pt modelId="{2D66D9F9-8083-463F-9AF8-897A48FD10E2}" type="parTrans" cxnId="{566002DB-1549-4F18-B7D1-7F8ECF6418F3}">
      <dgm:prSet/>
      <dgm:spPr/>
      <dgm:t>
        <a:bodyPr/>
        <a:lstStyle/>
        <a:p>
          <a:endParaRPr lang="en-US"/>
        </a:p>
      </dgm:t>
    </dgm:pt>
    <dgm:pt modelId="{6B9DF602-6F72-40EC-847E-DDCD094070F4}" type="sibTrans" cxnId="{566002DB-1549-4F18-B7D1-7F8ECF6418F3}">
      <dgm:prSet/>
      <dgm:spPr/>
      <dgm:t>
        <a:bodyPr/>
        <a:lstStyle/>
        <a:p>
          <a:endParaRPr lang="en-US"/>
        </a:p>
      </dgm:t>
    </dgm:pt>
    <dgm:pt modelId="{618822CE-111C-4DC2-A638-71A2B1DACD6F}">
      <dgm:prSet/>
      <dgm:spPr/>
      <dgm:t>
        <a:bodyPr/>
        <a:lstStyle/>
        <a:p>
          <a:r>
            <a:rPr lang="es-ES"/>
            <a:t>Casos de uso</a:t>
          </a:r>
          <a:r>
            <a:rPr lang="en-US"/>
            <a:t>​</a:t>
          </a:r>
        </a:p>
      </dgm:t>
    </dgm:pt>
    <dgm:pt modelId="{403513FF-4D4E-41D3-AE09-C44EDC51C21E}" type="parTrans" cxnId="{93A92515-64AD-49E3-B892-44F2A1DADCD1}">
      <dgm:prSet/>
      <dgm:spPr/>
      <dgm:t>
        <a:bodyPr/>
        <a:lstStyle/>
        <a:p>
          <a:endParaRPr lang="en-US"/>
        </a:p>
      </dgm:t>
    </dgm:pt>
    <dgm:pt modelId="{66C192FE-B310-4ADE-83C1-959FA8C12876}" type="sibTrans" cxnId="{93A92515-64AD-49E3-B892-44F2A1DADCD1}">
      <dgm:prSet/>
      <dgm:spPr/>
      <dgm:t>
        <a:bodyPr/>
        <a:lstStyle/>
        <a:p>
          <a:endParaRPr lang="en-US"/>
        </a:p>
      </dgm:t>
    </dgm:pt>
    <dgm:pt modelId="{DA2E9A1B-B9F4-4867-84FE-882A2793E090}">
      <dgm:prSet/>
      <dgm:spPr/>
      <dgm:t>
        <a:bodyPr/>
        <a:lstStyle/>
        <a:p>
          <a:r>
            <a:rPr lang="es-ES" dirty="0"/>
            <a:t>Ejercicios</a:t>
          </a:r>
          <a:endParaRPr lang="en-US" dirty="0"/>
        </a:p>
      </dgm:t>
    </dgm:pt>
    <dgm:pt modelId="{BE523DCE-9CD4-4160-A4E4-6D0600DD4FFF}" type="parTrans" cxnId="{4FE53ED0-3090-485B-B89D-04294C2E3CB1}">
      <dgm:prSet/>
      <dgm:spPr/>
      <dgm:t>
        <a:bodyPr/>
        <a:lstStyle/>
        <a:p>
          <a:endParaRPr lang="en-US"/>
        </a:p>
      </dgm:t>
    </dgm:pt>
    <dgm:pt modelId="{8DBC7DBD-833B-46AD-B19B-D80299C88F2C}" type="sibTrans" cxnId="{4FE53ED0-3090-485B-B89D-04294C2E3CB1}">
      <dgm:prSet/>
      <dgm:spPr/>
      <dgm:t>
        <a:bodyPr/>
        <a:lstStyle/>
        <a:p>
          <a:endParaRPr lang="en-US"/>
        </a:p>
      </dgm:t>
    </dgm:pt>
    <dgm:pt modelId="{489962D0-0D6E-45A1-91D8-0AB68AC1D7F2}" type="pres">
      <dgm:prSet presAssocID="{1BF8A197-623A-4449-B787-91EF2C12F42F}" presName="diagram" presStyleCnt="0">
        <dgm:presLayoutVars>
          <dgm:dir/>
          <dgm:resizeHandles val="exact"/>
        </dgm:presLayoutVars>
      </dgm:prSet>
      <dgm:spPr/>
    </dgm:pt>
    <dgm:pt modelId="{354B319C-5ADA-4F94-9BA0-89E20B95998C}" type="pres">
      <dgm:prSet presAssocID="{FD41D33D-CC9B-4E6B-B289-0422CC8A7C58}" presName="node" presStyleLbl="node1" presStyleIdx="0" presStyleCnt="5">
        <dgm:presLayoutVars>
          <dgm:bulletEnabled val="1"/>
        </dgm:presLayoutVars>
      </dgm:prSet>
      <dgm:spPr/>
    </dgm:pt>
    <dgm:pt modelId="{DDA6FD1E-2070-416F-90E3-3C2A46F45A7F}" type="pres">
      <dgm:prSet presAssocID="{31784CDB-DCA8-4234-91E0-AE5EC03C2A2F}" presName="sibTrans" presStyleCnt="0"/>
      <dgm:spPr/>
    </dgm:pt>
    <dgm:pt modelId="{61F7A838-499D-4050-BA81-751EEB3A7EE5}" type="pres">
      <dgm:prSet presAssocID="{3B47C25F-3E0B-4897-AB8E-862E3D6359B3}" presName="node" presStyleLbl="node1" presStyleIdx="1" presStyleCnt="5">
        <dgm:presLayoutVars>
          <dgm:bulletEnabled val="1"/>
        </dgm:presLayoutVars>
      </dgm:prSet>
      <dgm:spPr/>
    </dgm:pt>
    <dgm:pt modelId="{B0C8E1C2-2E99-4FB8-BF61-1606DB6B0F2A}" type="pres">
      <dgm:prSet presAssocID="{9392B087-E28C-4FE1-9A7C-7C1513DBDB22}" presName="sibTrans" presStyleCnt="0"/>
      <dgm:spPr/>
    </dgm:pt>
    <dgm:pt modelId="{8D3C7CF3-8104-4F1F-AF9E-9A0CDDF0DE7F}" type="pres">
      <dgm:prSet presAssocID="{D829D27E-F025-4A3C-8D00-1C1E39D060CC}" presName="node" presStyleLbl="node1" presStyleIdx="2" presStyleCnt="5">
        <dgm:presLayoutVars>
          <dgm:bulletEnabled val="1"/>
        </dgm:presLayoutVars>
      </dgm:prSet>
      <dgm:spPr/>
    </dgm:pt>
    <dgm:pt modelId="{A268A802-5416-4092-8E95-5696F1D9ADD1}" type="pres">
      <dgm:prSet presAssocID="{6B9DF602-6F72-40EC-847E-DDCD094070F4}" presName="sibTrans" presStyleCnt="0"/>
      <dgm:spPr/>
    </dgm:pt>
    <dgm:pt modelId="{96109A8E-70F9-4D3A-B573-DACAB1A291EB}" type="pres">
      <dgm:prSet presAssocID="{618822CE-111C-4DC2-A638-71A2B1DACD6F}" presName="node" presStyleLbl="node1" presStyleIdx="3" presStyleCnt="5">
        <dgm:presLayoutVars>
          <dgm:bulletEnabled val="1"/>
        </dgm:presLayoutVars>
      </dgm:prSet>
      <dgm:spPr/>
    </dgm:pt>
    <dgm:pt modelId="{F438934A-DC67-40EC-BA57-CB3BA07408B9}" type="pres">
      <dgm:prSet presAssocID="{66C192FE-B310-4ADE-83C1-959FA8C12876}" presName="sibTrans" presStyleCnt="0"/>
      <dgm:spPr/>
    </dgm:pt>
    <dgm:pt modelId="{0991C7F3-6E83-4FB9-8990-499647F25B9E}" type="pres">
      <dgm:prSet presAssocID="{DA2E9A1B-B9F4-4867-84FE-882A2793E090}" presName="node" presStyleLbl="node1" presStyleIdx="4" presStyleCnt="5">
        <dgm:presLayoutVars>
          <dgm:bulletEnabled val="1"/>
        </dgm:presLayoutVars>
      </dgm:prSet>
      <dgm:spPr/>
    </dgm:pt>
  </dgm:ptLst>
  <dgm:cxnLst>
    <dgm:cxn modelId="{DB25C607-2252-4C42-A5B3-BC01FC0567A3}" type="presOf" srcId="{1BF8A197-623A-4449-B787-91EF2C12F42F}" destId="{489962D0-0D6E-45A1-91D8-0AB68AC1D7F2}" srcOrd="0" destOrd="0" presId="urn:microsoft.com/office/officeart/2005/8/layout/default"/>
    <dgm:cxn modelId="{93A92515-64AD-49E3-B892-44F2A1DADCD1}" srcId="{1BF8A197-623A-4449-B787-91EF2C12F42F}" destId="{618822CE-111C-4DC2-A638-71A2B1DACD6F}" srcOrd="3" destOrd="0" parTransId="{403513FF-4D4E-41D3-AE09-C44EDC51C21E}" sibTransId="{66C192FE-B310-4ADE-83C1-959FA8C12876}"/>
    <dgm:cxn modelId="{D64CF02A-D849-4347-BBF6-F9C0ED963790}" type="presOf" srcId="{D829D27E-F025-4A3C-8D00-1C1E39D060CC}" destId="{8D3C7CF3-8104-4F1F-AF9E-9A0CDDF0DE7F}" srcOrd="0" destOrd="0" presId="urn:microsoft.com/office/officeart/2005/8/layout/default"/>
    <dgm:cxn modelId="{11BB8D31-68E7-4CAD-BCC9-C7178D4186EC}" type="presOf" srcId="{DA2E9A1B-B9F4-4867-84FE-882A2793E090}" destId="{0991C7F3-6E83-4FB9-8990-499647F25B9E}" srcOrd="0" destOrd="0" presId="urn:microsoft.com/office/officeart/2005/8/layout/default"/>
    <dgm:cxn modelId="{B39EB33C-0E71-4685-8B85-3EF75DAB4792}" srcId="{1BF8A197-623A-4449-B787-91EF2C12F42F}" destId="{FD41D33D-CC9B-4E6B-B289-0422CC8A7C58}" srcOrd="0" destOrd="0" parTransId="{69485F17-AB70-4DB4-B1BF-1C6BD4E51B63}" sibTransId="{31784CDB-DCA8-4234-91E0-AE5EC03C2A2F}"/>
    <dgm:cxn modelId="{8D49C272-1645-40B0-AEA0-7D363E92A3C2}" srcId="{1BF8A197-623A-4449-B787-91EF2C12F42F}" destId="{3B47C25F-3E0B-4897-AB8E-862E3D6359B3}" srcOrd="1" destOrd="0" parTransId="{FB79ADAD-9D1D-4118-9102-1091EBF256E6}" sibTransId="{9392B087-E28C-4FE1-9A7C-7C1513DBDB22}"/>
    <dgm:cxn modelId="{A26D5C73-F094-4ED8-ABEA-9AB2CFAD3D9A}" type="presOf" srcId="{618822CE-111C-4DC2-A638-71A2B1DACD6F}" destId="{96109A8E-70F9-4D3A-B573-DACAB1A291EB}" srcOrd="0" destOrd="0" presId="urn:microsoft.com/office/officeart/2005/8/layout/default"/>
    <dgm:cxn modelId="{F1A8ED7D-DAC7-4191-8812-1C9851516F8B}" type="presOf" srcId="{FD41D33D-CC9B-4E6B-B289-0422CC8A7C58}" destId="{354B319C-5ADA-4F94-9BA0-89E20B95998C}" srcOrd="0" destOrd="0" presId="urn:microsoft.com/office/officeart/2005/8/layout/default"/>
    <dgm:cxn modelId="{FACA749F-D6E5-4657-B31C-56D404361C5D}" type="presOf" srcId="{3B47C25F-3E0B-4897-AB8E-862E3D6359B3}" destId="{61F7A838-499D-4050-BA81-751EEB3A7EE5}" srcOrd="0" destOrd="0" presId="urn:microsoft.com/office/officeart/2005/8/layout/default"/>
    <dgm:cxn modelId="{4FE53ED0-3090-485B-B89D-04294C2E3CB1}" srcId="{1BF8A197-623A-4449-B787-91EF2C12F42F}" destId="{DA2E9A1B-B9F4-4867-84FE-882A2793E090}" srcOrd="4" destOrd="0" parTransId="{BE523DCE-9CD4-4160-A4E4-6D0600DD4FFF}" sibTransId="{8DBC7DBD-833B-46AD-B19B-D80299C88F2C}"/>
    <dgm:cxn modelId="{566002DB-1549-4F18-B7D1-7F8ECF6418F3}" srcId="{1BF8A197-623A-4449-B787-91EF2C12F42F}" destId="{D829D27E-F025-4A3C-8D00-1C1E39D060CC}" srcOrd="2" destOrd="0" parTransId="{2D66D9F9-8083-463F-9AF8-897A48FD10E2}" sibTransId="{6B9DF602-6F72-40EC-847E-DDCD094070F4}"/>
    <dgm:cxn modelId="{3092BC32-30DF-4BA7-B9A4-E022B94FEE76}" type="presParOf" srcId="{489962D0-0D6E-45A1-91D8-0AB68AC1D7F2}" destId="{354B319C-5ADA-4F94-9BA0-89E20B95998C}" srcOrd="0" destOrd="0" presId="urn:microsoft.com/office/officeart/2005/8/layout/default"/>
    <dgm:cxn modelId="{55526E26-17E5-4E88-8A0B-E0C0252E80A5}" type="presParOf" srcId="{489962D0-0D6E-45A1-91D8-0AB68AC1D7F2}" destId="{DDA6FD1E-2070-416F-90E3-3C2A46F45A7F}" srcOrd="1" destOrd="0" presId="urn:microsoft.com/office/officeart/2005/8/layout/default"/>
    <dgm:cxn modelId="{BE5C7184-E0B0-4B7B-B342-915C8A9DD694}" type="presParOf" srcId="{489962D0-0D6E-45A1-91D8-0AB68AC1D7F2}" destId="{61F7A838-499D-4050-BA81-751EEB3A7EE5}" srcOrd="2" destOrd="0" presId="urn:microsoft.com/office/officeart/2005/8/layout/default"/>
    <dgm:cxn modelId="{94261BB7-7BD4-41B3-A56B-11C76FE88047}" type="presParOf" srcId="{489962D0-0D6E-45A1-91D8-0AB68AC1D7F2}" destId="{B0C8E1C2-2E99-4FB8-BF61-1606DB6B0F2A}" srcOrd="3" destOrd="0" presId="urn:microsoft.com/office/officeart/2005/8/layout/default"/>
    <dgm:cxn modelId="{9E5B33DE-0E87-4112-B027-7E87512DFD12}" type="presParOf" srcId="{489962D0-0D6E-45A1-91D8-0AB68AC1D7F2}" destId="{8D3C7CF3-8104-4F1F-AF9E-9A0CDDF0DE7F}" srcOrd="4" destOrd="0" presId="urn:microsoft.com/office/officeart/2005/8/layout/default"/>
    <dgm:cxn modelId="{ED70A5C0-64B1-4081-9B74-9051A4107605}" type="presParOf" srcId="{489962D0-0D6E-45A1-91D8-0AB68AC1D7F2}" destId="{A268A802-5416-4092-8E95-5696F1D9ADD1}" srcOrd="5" destOrd="0" presId="urn:microsoft.com/office/officeart/2005/8/layout/default"/>
    <dgm:cxn modelId="{8630293E-6E7A-4D40-98C3-D7307A407BE7}" type="presParOf" srcId="{489962D0-0D6E-45A1-91D8-0AB68AC1D7F2}" destId="{96109A8E-70F9-4D3A-B573-DACAB1A291EB}" srcOrd="6" destOrd="0" presId="urn:microsoft.com/office/officeart/2005/8/layout/default"/>
    <dgm:cxn modelId="{1F2E0137-4BE9-4D80-ACA2-364D5DCCA146}" type="presParOf" srcId="{489962D0-0D6E-45A1-91D8-0AB68AC1D7F2}" destId="{F438934A-DC67-40EC-BA57-CB3BA07408B9}" srcOrd="7" destOrd="0" presId="urn:microsoft.com/office/officeart/2005/8/layout/default"/>
    <dgm:cxn modelId="{FF2A193B-77C2-42D9-8283-8F652D1ECB89}" type="presParOf" srcId="{489962D0-0D6E-45A1-91D8-0AB68AC1D7F2}" destId="{0991C7F3-6E83-4FB9-8990-499647F25B9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B319C-5ADA-4F94-9BA0-89E20B95998C}">
      <dsp:nvSpPr>
        <dsp:cNvPr id="0" name=""/>
        <dsp:cNvSpPr/>
      </dsp:nvSpPr>
      <dsp:spPr>
        <a:xfrm>
          <a:off x="743415" y="313"/>
          <a:ext cx="2876556" cy="17259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Definición</a:t>
          </a:r>
          <a:r>
            <a:rPr lang="en-US" sz="4400" kern="1200"/>
            <a:t>​</a:t>
          </a:r>
        </a:p>
      </dsp:txBody>
      <dsp:txXfrm>
        <a:off x="743415" y="313"/>
        <a:ext cx="2876556" cy="1725934"/>
      </dsp:txXfrm>
    </dsp:sp>
    <dsp:sp modelId="{61F7A838-499D-4050-BA81-751EEB3A7EE5}">
      <dsp:nvSpPr>
        <dsp:cNvPr id="0" name=""/>
        <dsp:cNvSpPr/>
      </dsp:nvSpPr>
      <dsp:spPr>
        <a:xfrm>
          <a:off x="3907627" y="313"/>
          <a:ext cx="2876556" cy="17259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Estructura</a:t>
          </a:r>
          <a:r>
            <a:rPr lang="en-US" sz="4400" kern="1200"/>
            <a:t>​</a:t>
          </a:r>
        </a:p>
      </dsp:txBody>
      <dsp:txXfrm>
        <a:off x="3907627" y="313"/>
        <a:ext cx="2876556" cy="1725934"/>
      </dsp:txXfrm>
    </dsp:sp>
    <dsp:sp modelId="{8D3C7CF3-8104-4F1F-AF9E-9A0CDDF0DE7F}">
      <dsp:nvSpPr>
        <dsp:cNvPr id="0" name=""/>
        <dsp:cNvSpPr/>
      </dsp:nvSpPr>
      <dsp:spPr>
        <a:xfrm>
          <a:off x="7071840" y="313"/>
          <a:ext cx="2876556" cy="17259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Ejemplos</a:t>
          </a:r>
          <a:r>
            <a:rPr lang="en-US" sz="4400" kern="1200"/>
            <a:t>​</a:t>
          </a:r>
        </a:p>
      </dsp:txBody>
      <dsp:txXfrm>
        <a:off x="7071840" y="313"/>
        <a:ext cx="2876556" cy="1725934"/>
      </dsp:txXfrm>
    </dsp:sp>
    <dsp:sp modelId="{96109A8E-70F9-4D3A-B573-DACAB1A291EB}">
      <dsp:nvSpPr>
        <dsp:cNvPr id="0" name=""/>
        <dsp:cNvSpPr/>
      </dsp:nvSpPr>
      <dsp:spPr>
        <a:xfrm>
          <a:off x="2325521" y="2013902"/>
          <a:ext cx="2876556" cy="17259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/>
            <a:t>Casos de uso</a:t>
          </a:r>
          <a:r>
            <a:rPr lang="en-US" sz="4400" kern="1200"/>
            <a:t>​</a:t>
          </a:r>
        </a:p>
      </dsp:txBody>
      <dsp:txXfrm>
        <a:off x="2325521" y="2013902"/>
        <a:ext cx="2876556" cy="1725934"/>
      </dsp:txXfrm>
    </dsp:sp>
    <dsp:sp modelId="{0991C7F3-6E83-4FB9-8990-499647F25B9E}">
      <dsp:nvSpPr>
        <dsp:cNvPr id="0" name=""/>
        <dsp:cNvSpPr/>
      </dsp:nvSpPr>
      <dsp:spPr>
        <a:xfrm>
          <a:off x="5489733" y="2013902"/>
          <a:ext cx="2876556" cy="17259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Ejercicios</a:t>
          </a:r>
          <a:endParaRPr lang="en-US" sz="4400" kern="1200" dirty="0"/>
        </a:p>
      </dsp:txBody>
      <dsp:txXfrm>
        <a:off x="5489733" y="2013902"/>
        <a:ext cx="2876556" cy="1725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9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9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5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7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1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8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6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2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3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20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1BC77-D9D8-3F32-84A4-B11CDDEA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0" y="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B931D4-9235-68FC-2BA8-8A03680A3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5206" y="1742329"/>
            <a:ext cx="7978385" cy="916234"/>
          </a:xfrm>
        </p:spPr>
        <p:txBody>
          <a:bodyPr anchor="ctr">
            <a:normAutofit/>
          </a:bodyPr>
          <a:lstStyle/>
          <a:p>
            <a:r>
              <a:rPr lang="es-ES" sz="3600" dirty="0"/>
              <a:t>Bucle </a:t>
            </a:r>
            <a:r>
              <a:rPr lang="es-ES" sz="3600" dirty="0" err="1"/>
              <a:t>for</a:t>
            </a:r>
            <a:endParaRPr lang="es-CL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8E9D09-53AD-D20E-DCE2-342C8DBDE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3111" y="2854956"/>
            <a:ext cx="3634494" cy="868139"/>
          </a:xfrm>
        </p:spPr>
        <p:txBody>
          <a:bodyPr anchor="ctr">
            <a:normAutofit/>
          </a:bodyPr>
          <a:lstStyle/>
          <a:p>
            <a:pPr algn="r"/>
            <a:r>
              <a:rPr lang="es-ES" sz="4000" dirty="0"/>
              <a:t>Clase</a:t>
            </a:r>
            <a:r>
              <a:rPr lang="es-ES" sz="2400" dirty="0"/>
              <a:t> </a:t>
            </a:r>
            <a:r>
              <a:rPr lang="es-ES" sz="3600" dirty="0"/>
              <a:t>6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616657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263FDC-36D6-44A5-1822-4F058968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s-ES" dirty="0"/>
              <a:t>Aprendizajes esperados</a:t>
            </a:r>
            <a:endParaRPr lang="es-C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E1CEFC8-5482-D671-7474-5DAD2E6D60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11747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319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B7184A-3C79-EFF7-8DE7-3F1FF284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754144"/>
          </a:xfrm>
        </p:spPr>
        <p:txBody>
          <a:bodyPr>
            <a:normAutofit/>
          </a:bodyPr>
          <a:lstStyle/>
          <a:p>
            <a:r>
              <a:rPr lang="es-ES" dirty="0"/>
              <a:t>Bucle </a:t>
            </a:r>
            <a:r>
              <a:rPr lang="es-ES" dirty="0" err="1"/>
              <a:t>for</a:t>
            </a:r>
            <a:endParaRPr lang="es-CL" dirty="0"/>
          </a:p>
        </p:txBody>
      </p:sp>
      <p:pic>
        <p:nvPicPr>
          <p:cNvPr id="2050" name="Picture 2" descr="What are For Loops. A “For” Loop is used to repeat a… | by Jordan Evans |  Nerd For Tech | Medium">
            <a:extLst>
              <a:ext uri="{FF2B5EF4-FFF2-40B4-BE49-F238E27FC236}">
                <a16:creationId xmlns:a16="http://schemas.microsoft.com/office/drawing/2014/main" id="{FAFA3AAF-9253-1FDB-96EE-8F4F3FF2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" r="1" b="2158"/>
          <a:stretch>
            <a:fillRect/>
          </a:stretch>
        </p:blipFill>
        <p:spPr bwMode="auto">
          <a:xfrm>
            <a:off x="20" y="-17929"/>
            <a:ext cx="420622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2E4C7A-03D7-C8C3-DC2E-51FB65D5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dirty="0"/>
              <a:t>El </a:t>
            </a:r>
            <a:r>
              <a:rPr lang="es-ES" dirty="0" err="1"/>
              <a:t>for</a:t>
            </a:r>
            <a:r>
              <a:rPr lang="es-ES" dirty="0"/>
              <a:t> se utiliza para </a:t>
            </a:r>
            <a:r>
              <a:rPr lang="es-ES" b="1" dirty="0"/>
              <a:t>iterar</a:t>
            </a:r>
            <a:r>
              <a:rPr lang="es-ES" dirty="0"/>
              <a:t> (recorrer) los elementos de una secuencia. Una secuencia puede ser una lista de números, una cadena de texto (</a:t>
            </a:r>
            <a:r>
              <a:rPr lang="es-ES" dirty="0" err="1"/>
              <a:t>string</a:t>
            </a:r>
            <a:r>
              <a:rPr lang="es-ES" dirty="0"/>
              <a:t>) o un rango determinado.</a:t>
            </a:r>
            <a:endParaRPr lang="es-ES"/>
          </a:p>
          <a:p>
            <a:pPr>
              <a:lnSpc>
                <a:spcPct val="100000"/>
              </a:lnSpc>
            </a:pPr>
            <a:endParaRPr lang="es-ES"/>
          </a:p>
          <a:p>
            <a:pPr>
              <a:lnSpc>
                <a:spcPct val="100000"/>
              </a:lnSpc>
            </a:pPr>
            <a:r>
              <a:rPr lang="es-ES" b="1" dirty="0"/>
              <a:t>Analogía del Tren:</a:t>
            </a:r>
            <a:r>
              <a:rPr lang="es-ES" dirty="0"/>
              <a:t> Imagina un tren con varios vagones. El bucle </a:t>
            </a:r>
            <a:r>
              <a:rPr lang="es-ES" dirty="0" err="1"/>
              <a:t>for</a:t>
            </a:r>
            <a:r>
              <a:rPr lang="es-ES" dirty="0"/>
              <a:t> es un revisor que entra al </a:t>
            </a:r>
            <a:r>
              <a:rPr lang="es-ES" b="1" dirty="0"/>
              <a:t>primer vagón</a:t>
            </a:r>
            <a:r>
              <a:rPr lang="es-ES" dirty="0"/>
              <a:t>, hace algo, luego pasa al </a:t>
            </a:r>
            <a:r>
              <a:rPr lang="es-ES" b="1" dirty="0"/>
              <a:t>segundo</a:t>
            </a:r>
            <a:r>
              <a:rPr lang="es-ES" dirty="0"/>
              <a:t>, hace lo mismo, y así sucesivamente hasta que llega al </a:t>
            </a:r>
            <a:r>
              <a:rPr lang="es-ES" b="1" dirty="0"/>
              <a:t>último vagón</a:t>
            </a:r>
            <a:r>
              <a:rPr lang="es-ES" dirty="0"/>
              <a:t> y se baja solo. No necesita que le digas cuándo parar, él sabe dónde termina el tren.</a:t>
            </a:r>
            <a:endParaRPr lang="es-CL"/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41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25906-34A3-2C67-34FB-081447D9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63572"/>
            <a:ext cx="10691265" cy="1018094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La Estructura Básica</a:t>
            </a:r>
            <a:br>
              <a:rPr lang="es-ES" b="1" dirty="0"/>
            </a:br>
            <a:r>
              <a:rPr lang="es-ES" sz="3100" dirty="0"/>
              <a:t>En Python, el </a:t>
            </a:r>
            <a:r>
              <a:rPr lang="es-ES" sz="3100" dirty="0" err="1"/>
              <a:t>for</a:t>
            </a:r>
            <a:r>
              <a:rPr lang="es-ES" sz="3100" dirty="0"/>
              <a:t> se lee casi como una oración en inglés:</a:t>
            </a:r>
            <a:br>
              <a:rPr lang="es-ES" sz="3100" dirty="0"/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26E17-C37A-2754-D674-8F139908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81288"/>
            <a:ext cx="10691265" cy="3897416"/>
          </a:xfrm>
        </p:spPr>
        <p:txBody>
          <a:bodyPr>
            <a:normAutofit/>
          </a:bodyPr>
          <a:lstStyle/>
          <a:p>
            <a:r>
              <a:rPr lang="es-ES" dirty="0"/>
              <a:t>#Sintaxis:</a:t>
            </a:r>
          </a:p>
          <a:p>
            <a:r>
              <a:rPr lang="es-ES" dirty="0"/>
              <a:t>#for elemento in secuencia:</a:t>
            </a:r>
          </a:p>
          <a:p>
            <a:r>
              <a:rPr lang="es-ES" dirty="0"/>
              <a:t>#instrucciones</a:t>
            </a:r>
          </a:p>
          <a:p>
            <a:endParaRPr lang="es-ES" dirty="0"/>
          </a:p>
          <a:p>
            <a:r>
              <a:rPr lang="es-ES" dirty="0"/>
              <a:t>nombres = ["Ana", "Luis", "Juan"]</a:t>
            </a:r>
          </a:p>
          <a:p>
            <a:endParaRPr lang="es-ES" dirty="0"/>
          </a:p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b="1" i="1" dirty="0"/>
              <a:t>nombre</a:t>
            </a:r>
            <a:r>
              <a:rPr lang="es-ES" dirty="0"/>
              <a:t> in </a:t>
            </a:r>
            <a:r>
              <a:rPr lang="es-ES" b="1" i="1" dirty="0"/>
              <a:t>nombres</a:t>
            </a:r>
            <a:r>
              <a:rPr lang="es-ES" dirty="0"/>
              <a:t>:</a:t>
            </a:r>
          </a:p>
          <a:p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f"Hola</a:t>
            </a:r>
            <a:r>
              <a:rPr lang="es-ES" dirty="0"/>
              <a:t> {nombre}")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FC5B76-91CB-3771-7FDD-76F442E58712}"/>
              </a:ext>
            </a:extLst>
          </p:cNvPr>
          <p:cNvSpPr txBox="1"/>
          <p:nvPr/>
        </p:nvSpPr>
        <p:spPr>
          <a:xfrm>
            <a:off x="6496397" y="250567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for</a:t>
            </a:r>
            <a:r>
              <a:rPr lang="es-CL" dirty="0"/>
              <a:t> (inicialización; condición; actualización):</a:t>
            </a:r>
          </a:p>
        </p:txBody>
      </p:sp>
    </p:spTree>
    <p:extLst>
      <p:ext uri="{BB962C8B-B14F-4D97-AF65-F5344CB8AC3E}">
        <p14:creationId xmlns:p14="http://schemas.microsoft.com/office/powerpoint/2010/main" val="210247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9C0D6-3177-4E43-46E6-FE994A9F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584989-659E-35F7-A9EC-8C56ACBE4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3734"/>
            <a:ext cx="10691265" cy="1878668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Inicialización:</a:t>
            </a:r>
            <a:r>
              <a:rPr lang="es-ES" dirty="0"/>
              <a:t> Se ejecuta una sola vez al principio. Normalmente sirve para declarar e inicializar una variable de control (contador), por ejemplo: </a:t>
            </a:r>
            <a:r>
              <a:rPr lang="es-ES" dirty="0" err="1"/>
              <a:t>let</a:t>
            </a:r>
            <a:r>
              <a:rPr lang="es-ES" dirty="0"/>
              <a:t> i = 0.</a:t>
            </a:r>
          </a:p>
          <a:p>
            <a:r>
              <a:rPr lang="es-ES" b="1" dirty="0"/>
              <a:t>Condición:</a:t>
            </a:r>
            <a:r>
              <a:rPr lang="es-ES" dirty="0"/>
              <a:t> Se evalúa antes de cada iteración. Si es verdadera (true), el código dentro del bucle se ejecuta; si es falsa (false), el bucle termina, por ejemplo: i &lt; 10.</a:t>
            </a:r>
          </a:p>
          <a:p>
            <a:r>
              <a:rPr lang="es-ES" b="1" dirty="0"/>
              <a:t>Actualización:</a:t>
            </a:r>
            <a:r>
              <a:rPr lang="es-ES" dirty="0"/>
              <a:t> Se ejecuta al final de cada vuelta para modificar la variable de control, por ejemplo: i++ (incremento) o i-- (decremento). </a:t>
            </a:r>
          </a:p>
          <a:p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B1FB23-4817-504E-3937-C33E72DA70D1}"/>
              </a:ext>
            </a:extLst>
          </p:cNvPr>
          <p:cNvSpPr txBox="1"/>
          <p:nvPr/>
        </p:nvSpPr>
        <p:spPr>
          <a:xfrm>
            <a:off x="2999053" y="4050151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dirty="0"/>
              <a:t>Componentes clave </a:t>
            </a:r>
          </a:p>
          <a:p>
            <a:r>
              <a:rPr lang="es-CL" b="1" dirty="0"/>
              <a:t>Cuerpo del bucle: </a:t>
            </a:r>
            <a:r>
              <a:rPr lang="es-CL" dirty="0"/>
              <a:t>Es el conjunto de instrucciones que quieres repetir. </a:t>
            </a:r>
          </a:p>
          <a:p>
            <a:r>
              <a:rPr lang="es-CL" b="1" dirty="0"/>
              <a:t>Variable de control: </a:t>
            </a:r>
            <a:r>
              <a:rPr lang="es-CL" dirty="0"/>
              <a:t>La variable que rastrea en qué paso del ciclo te encuentras. </a:t>
            </a:r>
          </a:p>
          <a:p>
            <a:r>
              <a:rPr lang="es-CL" b="1" dirty="0"/>
              <a:t>Paso (Step): </a:t>
            </a:r>
            <a:r>
              <a:rPr lang="es-CL" dirty="0"/>
              <a:t>La cantidad en la que aumenta o disminuye la variable de control en cada vuelta</a:t>
            </a:r>
          </a:p>
        </p:txBody>
      </p:sp>
    </p:spTree>
    <p:extLst>
      <p:ext uri="{BB962C8B-B14F-4D97-AF65-F5344CB8AC3E}">
        <p14:creationId xmlns:p14="http://schemas.microsoft.com/office/powerpoint/2010/main" val="76831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5C28A-9B0E-DDCF-7EC5-EE25456B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 aliado inseparable: </a:t>
            </a:r>
            <a:r>
              <a:rPr lang="es-CL" dirty="0" err="1"/>
              <a:t>range</a:t>
            </a:r>
            <a:r>
              <a:rPr lang="es-CL" dirty="0"/>
              <a:t>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2EBF7F-DF2F-0B78-5A1E-9C605C7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Como solemos trabajar mucho con números, usamos </a:t>
            </a:r>
            <a:r>
              <a:rPr lang="es-ES" dirty="0" err="1"/>
              <a:t>range</a:t>
            </a:r>
            <a:r>
              <a:rPr lang="es-ES" dirty="0"/>
              <a:t>(inicio, fin, salto).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B5B0CB-F9CE-A1A7-4FAE-275DDC3B552C}"/>
              </a:ext>
            </a:extLst>
          </p:cNvPr>
          <p:cNvSpPr txBox="1"/>
          <p:nvPr/>
        </p:nvSpPr>
        <p:spPr>
          <a:xfrm>
            <a:off x="1454085" y="2967335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range</a:t>
            </a:r>
            <a:r>
              <a:rPr lang="es-CL" dirty="0"/>
              <a:t>(5) -&gt; Genera números del 0 al 4 (el 5 no se incluye). </a:t>
            </a:r>
            <a:r>
              <a:rPr lang="es-CL" dirty="0" err="1"/>
              <a:t>range</a:t>
            </a:r>
            <a:r>
              <a:rPr lang="es-CL" dirty="0"/>
              <a:t>(1, 6) -&gt; Genera números del 1 al 5. </a:t>
            </a:r>
            <a:r>
              <a:rPr lang="es-CL" dirty="0" err="1"/>
              <a:t>range</a:t>
            </a:r>
            <a:r>
              <a:rPr lang="es-CL" dirty="0"/>
              <a:t>(2, 11, 2) -&gt; Genera números de 2 en 2: (2, 4, 6, 8, 10).</a:t>
            </a:r>
          </a:p>
        </p:txBody>
      </p:sp>
    </p:spTree>
    <p:extLst>
      <p:ext uri="{BB962C8B-B14F-4D97-AF65-F5344CB8AC3E}">
        <p14:creationId xmlns:p14="http://schemas.microsoft.com/office/powerpoint/2010/main" val="134175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5A015-F185-AF17-E2A4-F31A7874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Diferencia Clave: </a:t>
            </a:r>
            <a:r>
              <a:rPr lang="es-ES" dirty="0" err="1"/>
              <a:t>for</a:t>
            </a:r>
            <a:r>
              <a:rPr lang="es-ES" dirty="0"/>
              <a:t> vs </a:t>
            </a:r>
            <a:r>
              <a:rPr lang="es-ES" dirty="0" err="1"/>
              <a:t>while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224E23-A3E4-B2D1-8B41-A9EE337F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83" y="1866507"/>
            <a:ext cx="11222218" cy="980388"/>
          </a:xfrm>
        </p:spPr>
        <p:txBody>
          <a:bodyPr/>
          <a:lstStyle/>
          <a:p>
            <a:r>
              <a:rPr lang="es-ES" dirty="0" err="1"/>
              <a:t>while</a:t>
            </a:r>
            <a:r>
              <a:rPr lang="es-ES" dirty="0"/>
              <a:t>: Se usa cuando no sabes cuántas vueltas dará el programa (</a:t>
            </a:r>
            <a:r>
              <a:rPr lang="es-ES" dirty="0" err="1"/>
              <a:t>ej</a:t>
            </a:r>
            <a:r>
              <a:rPr lang="es-ES" dirty="0"/>
              <a:t>: "hasta que el usuario adivine").</a:t>
            </a:r>
          </a:p>
          <a:p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: Se usa cuando sí sabes de antemano cuántas veces vas a repetir algo o qué lista vas a recorrer.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8E3354-AD54-89BB-A33D-9EB4CB05634F}"/>
              </a:ext>
            </a:extLst>
          </p:cNvPr>
          <p:cNvSpPr txBox="1"/>
          <p:nvPr/>
        </p:nvSpPr>
        <p:spPr>
          <a:xfrm>
            <a:off x="282804" y="3204848"/>
            <a:ext cx="113404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Bucle </a:t>
            </a:r>
            <a:r>
              <a:rPr lang="es-CL" dirty="0" err="1"/>
              <a:t>for</a:t>
            </a:r>
            <a:r>
              <a:rPr lang="es-CL" dirty="0"/>
              <a:t> (Iteración definida): </a:t>
            </a:r>
          </a:p>
          <a:p>
            <a:r>
              <a:rPr lang="es-CL" dirty="0"/>
              <a:t>Cuándo usarlo: Cuando conoces el número exacto de repeticiones o quieres recorrer todos los elementos de una colección (como una lista o un rango). </a:t>
            </a:r>
          </a:p>
          <a:p>
            <a:r>
              <a:rPr lang="es-CL" dirty="0"/>
              <a:t>Ventaja: Es más compacto y reduce errores, ya que la inicialización, la condición y el incremento suelen estar en una sola línea. Ejemplo: "Caminar 10 pasos". </a:t>
            </a:r>
          </a:p>
          <a:p>
            <a:r>
              <a:rPr lang="es-CL" dirty="0"/>
              <a:t>Bucle </a:t>
            </a:r>
            <a:r>
              <a:rPr lang="es-CL" dirty="0" err="1"/>
              <a:t>while</a:t>
            </a:r>
            <a:r>
              <a:rPr lang="es-CL" dirty="0"/>
              <a:t> (Iteración indefinida): </a:t>
            </a:r>
          </a:p>
          <a:p>
            <a:r>
              <a:rPr lang="es-CL" dirty="0"/>
              <a:t>Cuándo usarlo: Cuando no sabes cuántas veces se repetirá el código y dependes de una condición externa que cambie durante la ejecución. </a:t>
            </a:r>
          </a:p>
          <a:p>
            <a:r>
              <a:rPr lang="es-CL" dirty="0"/>
              <a:t>Ventaja: Ofrece mayor flexibilidad para condiciones lógicas complejas que no dependen de un contador. Ejemplo: "Caminar hasta llegar a la puerta"</a:t>
            </a:r>
          </a:p>
        </p:txBody>
      </p:sp>
    </p:spTree>
    <p:extLst>
      <p:ext uri="{BB962C8B-B14F-4D97-AF65-F5344CB8AC3E}">
        <p14:creationId xmlns:p14="http://schemas.microsoft.com/office/powerpoint/2010/main" val="278243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596AE-2352-6FD6-50C8-9096D4C3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492FC8-37BA-B753-75D0-82563050B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La Tabla de Multiplicar</a:t>
            </a:r>
          </a:p>
          <a:p>
            <a:r>
              <a:rPr lang="es-ES" b="1" dirty="0"/>
              <a:t>Reto:</a:t>
            </a:r>
            <a:r>
              <a:rPr lang="es-ES" dirty="0"/>
              <a:t> Pedir un número al usuario y mostrar su tabla del 1 al 10.</a:t>
            </a:r>
          </a:p>
          <a:p>
            <a:r>
              <a:rPr lang="es-CL" dirty="0"/>
              <a:t>numero = </a:t>
            </a:r>
            <a:r>
              <a:rPr lang="es-CL" dirty="0" err="1"/>
              <a:t>int</a:t>
            </a:r>
            <a:r>
              <a:rPr lang="es-CL" dirty="0"/>
              <a:t>(input("¿De qué número quieres la tabla?: "))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(f"--- Tabla del {numero} ---")</a:t>
            </a:r>
          </a:p>
          <a:p>
            <a:r>
              <a:rPr lang="es-CL" dirty="0" err="1"/>
              <a:t>for</a:t>
            </a:r>
            <a:r>
              <a:rPr lang="es-CL" dirty="0"/>
              <a:t> i in </a:t>
            </a:r>
            <a:r>
              <a:rPr lang="es-CL" dirty="0" err="1"/>
              <a:t>range</a:t>
            </a:r>
            <a:r>
              <a:rPr lang="es-CL" dirty="0"/>
              <a:t>(1, 11):</a:t>
            </a:r>
          </a:p>
          <a:p>
            <a:r>
              <a:rPr lang="es-CL" dirty="0"/>
              <a:t>    resultado = numero * i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(f"{numero} x {i} = {resultado}")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5CAAD7-9531-5AB7-513A-63E5EF3D300A}"/>
              </a:ext>
            </a:extLst>
          </p:cNvPr>
          <p:cNvSpPr txBox="1"/>
          <p:nvPr/>
        </p:nvSpPr>
        <p:spPr>
          <a:xfrm>
            <a:off x="6714241" y="3897345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La Regla del "Hasta" (Intervalo Semiabierto)</a:t>
            </a:r>
          </a:p>
          <a:p>
            <a:pPr>
              <a:buNone/>
            </a:pPr>
            <a:r>
              <a:rPr lang="es-ES" dirty="0"/>
              <a:t>En Python, </a:t>
            </a:r>
            <a:r>
              <a:rPr lang="es-ES" dirty="0" err="1">
                <a:latin typeface="Courier New" panose="02070309020205020404" pitchFamily="49" charset="0"/>
              </a:rPr>
              <a:t>range</a:t>
            </a:r>
            <a:r>
              <a:rPr lang="es-ES" dirty="0">
                <a:latin typeface="Courier New" panose="02070309020205020404" pitchFamily="49" charset="0"/>
              </a:rPr>
              <a:t>(inicio, fin)</a:t>
            </a:r>
            <a:r>
              <a:rPr lang="es-ES" dirty="0"/>
              <a:t> funciona así: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Inicio:</a:t>
            </a:r>
            <a:r>
              <a:rPr lang="es-ES" dirty="0"/>
              <a:t> Es desde dónde empezamos (Inclusivo).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Fin:</a:t>
            </a:r>
            <a:r>
              <a:rPr lang="es-ES" dirty="0"/>
              <a:t> Es el límite donde se detiene, </a:t>
            </a:r>
            <a:r>
              <a:rPr lang="es-ES" b="1" dirty="0"/>
              <a:t>pero no lo toca</a:t>
            </a:r>
            <a:r>
              <a:rPr lang="es-ES" dirty="0"/>
              <a:t> (Exclusivo).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3AB94-7B48-372A-1317-02D17864FA30}"/>
              </a:ext>
            </a:extLst>
          </p:cNvPr>
          <p:cNvSpPr txBox="1"/>
          <p:nvPr/>
        </p:nvSpPr>
        <p:spPr>
          <a:xfrm>
            <a:off x="6813222" y="5374673"/>
            <a:ext cx="6405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range</a:t>
            </a:r>
            <a:r>
              <a:rPr lang="es-CL" dirty="0"/>
              <a:t>(1, 11) -&gt; $11 - 1 = 10 vueltas exactas.</a:t>
            </a:r>
          </a:p>
          <a:p>
            <a:r>
              <a:rPr lang="es-CL" dirty="0" err="1"/>
              <a:t>range</a:t>
            </a:r>
            <a:r>
              <a:rPr lang="es-CL" dirty="0"/>
              <a:t>(0, 5) -&gt; 5 - 0 = 5 vueltas exactas.</a:t>
            </a:r>
          </a:p>
        </p:txBody>
      </p:sp>
    </p:spTree>
    <p:extLst>
      <p:ext uri="{BB962C8B-B14F-4D97-AF65-F5344CB8AC3E}">
        <p14:creationId xmlns:p14="http://schemas.microsoft.com/office/powerpoint/2010/main" val="293365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7B4EE-D7CB-7290-53E9-1D5469A7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Contador de Vocales </a:t>
            </a:r>
            <a:br>
              <a:rPr lang="es-ES" dirty="0"/>
            </a:br>
            <a:r>
              <a:rPr lang="es-ES" dirty="0"/>
              <a:t>(Recorriendo un </a:t>
            </a:r>
            <a:r>
              <a:rPr lang="es-ES" dirty="0" err="1"/>
              <a:t>String</a:t>
            </a:r>
            <a:r>
              <a:rPr lang="es-ES" dirty="0"/>
              <a:t>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24F8D3-609C-45A1-5D03-B04212E1A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Contar cuántas veces aparece la letra "a" en una frase.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C678A5D-ACEC-0DFF-2780-D63EA28BEEBC}"/>
              </a:ext>
            </a:extLst>
          </p:cNvPr>
          <p:cNvSpPr txBox="1"/>
          <p:nvPr/>
        </p:nvSpPr>
        <p:spPr>
          <a:xfrm>
            <a:off x="907330" y="2823949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frase = input("Escribe una frase: ").</a:t>
            </a:r>
            <a:r>
              <a:rPr lang="es-CL" dirty="0" err="1"/>
              <a:t>lower</a:t>
            </a:r>
            <a:r>
              <a:rPr lang="es-CL" dirty="0"/>
              <a:t>()</a:t>
            </a:r>
          </a:p>
          <a:p>
            <a:r>
              <a:rPr lang="es-CL" dirty="0" err="1"/>
              <a:t>contador_a</a:t>
            </a:r>
            <a:r>
              <a:rPr lang="es-CL" dirty="0"/>
              <a:t> = 0</a:t>
            </a:r>
          </a:p>
          <a:p>
            <a:endParaRPr lang="es-CL" dirty="0"/>
          </a:p>
          <a:p>
            <a:r>
              <a:rPr lang="es-CL" dirty="0" err="1"/>
              <a:t>for</a:t>
            </a:r>
            <a:r>
              <a:rPr lang="es-CL" dirty="0"/>
              <a:t> letra in frase:</a:t>
            </a:r>
          </a:p>
          <a:p>
            <a:r>
              <a:rPr lang="es-CL" dirty="0"/>
              <a:t>    </a:t>
            </a:r>
            <a:r>
              <a:rPr lang="es-CL" dirty="0" err="1"/>
              <a:t>if</a:t>
            </a:r>
            <a:r>
              <a:rPr lang="es-CL" dirty="0"/>
              <a:t> letra == "a":</a:t>
            </a:r>
          </a:p>
          <a:p>
            <a:r>
              <a:rPr lang="es-CL" dirty="0"/>
              <a:t>        </a:t>
            </a:r>
            <a:r>
              <a:rPr lang="es-CL" dirty="0" err="1"/>
              <a:t>contador_a</a:t>
            </a:r>
            <a:r>
              <a:rPr lang="es-CL" dirty="0"/>
              <a:t> += 1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f"La</a:t>
            </a:r>
            <a:r>
              <a:rPr lang="es-CL" dirty="0"/>
              <a:t> letra 'a' aparece {</a:t>
            </a:r>
            <a:r>
              <a:rPr lang="es-CL" dirty="0" err="1"/>
              <a:t>contador_a</a:t>
            </a:r>
            <a:r>
              <a:rPr lang="es-CL" dirty="0"/>
              <a:t>} veces.")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1B88CB-49DA-5502-F188-DF80A6C8CBAD}"/>
              </a:ext>
            </a:extLst>
          </p:cNvPr>
          <p:cNvSpPr txBox="1"/>
          <p:nvPr/>
        </p:nvSpPr>
        <p:spPr>
          <a:xfrm>
            <a:off x="6046267" y="2633230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b="1" dirty="0"/>
              <a:t>El Contador debe nacer "Vacío" (</a:t>
            </a:r>
            <a:r>
              <a:rPr lang="es-ES" sz="1600" b="1" dirty="0">
                <a:latin typeface="Courier New" panose="02070309020205020404" pitchFamily="49" charset="0"/>
              </a:rPr>
              <a:t>a = 0</a:t>
            </a:r>
            <a:r>
              <a:rPr lang="es-ES" sz="1600" b="1" dirty="0"/>
              <a:t>)</a:t>
            </a:r>
          </a:p>
          <a:p>
            <a:pPr>
              <a:buNone/>
            </a:pPr>
            <a:r>
              <a:rPr lang="es-ES" sz="1600" dirty="0"/>
              <a:t>Imagínalo como una </a:t>
            </a:r>
            <a:r>
              <a:rPr lang="es-ES" sz="1600" b="1" dirty="0"/>
              <a:t>alcancía</a:t>
            </a:r>
            <a:r>
              <a:rPr lang="es-ES" sz="1600" dirty="0"/>
              <a:t>. Antes de empezar a caminar por la calle buscando monedas (las letras "a"), tu alcancía debe estar vacía.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7FB1F4-6CBA-A60D-2D32-EB0F214C0346}"/>
              </a:ext>
            </a:extLst>
          </p:cNvPr>
          <p:cNvSpPr txBox="1"/>
          <p:nvPr/>
        </p:nvSpPr>
        <p:spPr>
          <a:xfrm>
            <a:off x="6046267" y="3558895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El </a:t>
            </a:r>
            <a:r>
              <a:rPr lang="es-ES" b="1" dirty="0" err="1">
                <a:latin typeface="Courier New" panose="02070309020205020404" pitchFamily="49" charset="0"/>
              </a:rPr>
              <a:t>if</a:t>
            </a:r>
            <a:r>
              <a:rPr lang="es-ES" b="1" dirty="0"/>
              <a:t> debe ir "Dentro" del </a:t>
            </a:r>
            <a:r>
              <a:rPr lang="es-ES" b="1" dirty="0" err="1">
                <a:latin typeface="Courier New" panose="02070309020205020404" pitchFamily="49" charset="0"/>
              </a:rPr>
              <a:t>for</a:t>
            </a:r>
            <a:endParaRPr lang="es-ES" b="1" dirty="0"/>
          </a:p>
          <a:p>
            <a:pPr>
              <a:buNone/>
            </a:pPr>
            <a:r>
              <a:rPr lang="es-ES" dirty="0"/>
              <a:t>El </a:t>
            </a:r>
            <a:r>
              <a:rPr lang="es-ES" dirty="0" err="1">
                <a:latin typeface="Courier New" panose="02070309020205020404" pitchFamily="49" charset="0"/>
              </a:rPr>
              <a:t>if</a:t>
            </a:r>
            <a:r>
              <a:rPr lang="es-ES" dirty="0"/>
              <a:t> es el </a:t>
            </a:r>
            <a:r>
              <a:rPr lang="es-ES" b="1" dirty="0"/>
              <a:t>filtro</a:t>
            </a:r>
            <a:r>
              <a:rPr lang="es-ES" dirty="0"/>
              <a:t>. Necesitamos que se ejecute </a:t>
            </a:r>
            <a:r>
              <a:rPr lang="es-ES" b="1" dirty="0"/>
              <a:t>por cada letra</a:t>
            </a:r>
            <a:r>
              <a:rPr lang="es-ES" dirty="0"/>
              <a:t> que el revisor (el </a:t>
            </a:r>
            <a:r>
              <a:rPr lang="es-ES" dirty="0" err="1">
                <a:latin typeface="Courier New" panose="02070309020205020404" pitchFamily="49" charset="0"/>
              </a:rPr>
              <a:t>for</a:t>
            </a:r>
            <a:r>
              <a:rPr lang="es-ES" dirty="0"/>
              <a:t>) va encontrando.</a:t>
            </a:r>
          </a:p>
          <a:p>
            <a:pPr>
              <a:buNone/>
            </a:pPr>
            <a:r>
              <a:rPr lang="es-ES" b="1" dirty="0"/>
              <a:t>El proceso lógico es este: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 err="1"/>
              <a:t>For</a:t>
            </a:r>
            <a:r>
              <a:rPr lang="es-ES" b="1" dirty="0"/>
              <a:t>:</a:t>
            </a:r>
            <a:r>
              <a:rPr lang="es-ES" dirty="0"/>
              <a:t> "Tomo la primera letra".</a:t>
            </a:r>
          </a:p>
          <a:p>
            <a:pPr>
              <a:buFont typeface="+mj-lt"/>
              <a:buAutoNum type="arabicPeriod"/>
            </a:pPr>
            <a:r>
              <a:rPr lang="es-ES" b="1" dirty="0" err="1"/>
              <a:t>If</a:t>
            </a:r>
            <a:r>
              <a:rPr lang="es-ES" b="1" dirty="0"/>
              <a:t>:</a:t>
            </a:r>
            <a:r>
              <a:rPr lang="es-ES" dirty="0"/>
              <a:t> "¿Es esta letra una 'a'?".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Contador:</a:t>
            </a:r>
            <a:r>
              <a:rPr lang="es-ES" dirty="0"/>
              <a:t> "Si el </a:t>
            </a:r>
            <a:r>
              <a:rPr lang="es-ES" dirty="0" err="1">
                <a:latin typeface="Courier New" panose="02070309020205020404" pitchFamily="49" charset="0"/>
              </a:rPr>
              <a:t>if</a:t>
            </a:r>
            <a:r>
              <a:rPr lang="es-ES" dirty="0"/>
              <a:t> dijo que sí, le sumo 1 a mi cuenta".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Repetición:</a:t>
            </a:r>
            <a:r>
              <a:rPr lang="es-ES" dirty="0"/>
              <a:t> El </a:t>
            </a:r>
            <a:r>
              <a:rPr lang="es-ES" dirty="0" err="1">
                <a:latin typeface="Courier New" panose="02070309020205020404" pitchFamily="49" charset="0"/>
              </a:rPr>
              <a:t>for</a:t>
            </a:r>
            <a:r>
              <a:rPr lang="es-ES" dirty="0"/>
              <a:t> pasa a la siguiente letra y repite el </a:t>
            </a:r>
            <a:r>
              <a:rPr lang="es-ES" dirty="0" err="1">
                <a:latin typeface="Courier New" panose="02070309020205020404" pitchFamily="49" charset="0"/>
              </a:rPr>
              <a:t>if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031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7BAD4-3554-6838-64F5-07797758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 Detector de Virus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B339F-021E-13B7-68A9-C09C55A33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13" y="1574889"/>
            <a:ext cx="10691265" cy="3739896"/>
          </a:xfrm>
        </p:spPr>
        <p:txBody>
          <a:bodyPr/>
          <a:lstStyle/>
          <a:p>
            <a:r>
              <a:rPr lang="es-ES" dirty="0"/>
              <a:t>Tenemos una lista de archivos representados por letras. Queremos procesar cada archivo, pero si encontramos una </a:t>
            </a:r>
            <a:r>
              <a:rPr lang="es-ES" b="1" dirty="0"/>
              <a:t>"X"</a:t>
            </a:r>
            <a:r>
              <a:rPr lang="es-ES" dirty="0"/>
              <a:t> (que representa un virus), el sistema debe detenerse inmediatamente por seguridad.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C5C341-2F15-5E98-1921-036B9B8CECAB}"/>
              </a:ext>
            </a:extLst>
          </p:cNvPr>
          <p:cNvSpPr txBox="1"/>
          <p:nvPr/>
        </p:nvSpPr>
        <p:spPr>
          <a:xfrm>
            <a:off x="336056" y="2752726"/>
            <a:ext cx="66805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dirty="0"/>
              <a:t>archivos = ["A", "B", "C", "X", "E", "F"]</a:t>
            </a:r>
          </a:p>
          <a:p>
            <a:endParaRPr lang="es-CL" sz="1600" dirty="0"/>
          </a:p>
          <a:p>
            <a:r>
              <a:rPr lang="es-CL" sz="1600" dirty="0" err="1"/>
              <a:t>print</a:t>
            </a:r>
            <a:r>
              <a:rPr lang="es-CL" sz="1600" dirty="0"/>
              <a:t>("--- Iniciando Escaneo de Sistema ---")</a:t>
            </a:r>
          </a:p>
          <a:p>
            <a:endParaRPr lang="es-CL" sz="1600" dirty="0"/>
          </a:p>
          <a:p>
            <a:r>
              <a:rPr lang="es-CL" sz="1600" dirty="0" err="1"/>
              <a:t>for</a:t>
            </a:r>
            <a:r>
              <a:rPr lang="es-CL" sz="1600" dirty="0"/>
              <a:t> archivo in archivos:</a:t>
            </a:r>
          </a:p>
          <a:p>
            <a:r>
              <a:rPr lang="es-CL" sz="1600" dirty="0"/>
              <a:t>    </a:t>
            </a:r>
            <a:r>
              <a:rPr lang="es-CL" sz="1600" dirty="0" err="1"/>
              <a:t>if</a:t>
            </a:r>
            <a:r>
              <a:rPr lang="es-CL" sz="1600" dirty="0"/>
              <a:t> archivo == "X":</a:t>
            </a:r>
          </a:p>
          <a:p>
            <a:r>
              <a:rPr lang="es-CL" sz="1600" dirty="0"/>
              <a:t>        </a:t>
            </a:r>
            <a:r>
              <a:rPr lang="es-CL" sz="1600" dirty="0" err="1"/>
              <a:t>print</a:t>
            </a:r>
            <a:r>
              <a:rPr lang="es-CL" sz="1600" dirty="0"/>
              <a:t>(" ¡PELIGRO! Virus detectado (X). Bloqueando sistema...")</a:t>
            </a:r>
          </a:p>
          <a:p>
            <a:r>
              <a:rPr lang="es-CL" sz="1600" dirty="0"/>
              <a:t>        break  # &lt;--- Detiene el bucle por completo</a:t>
            </a:r>
          </a:p>
          <a:p>
            <a:r>
              <a:rPr lang="es-CL" sz="1600" dirty="0"/>
              <a:t>    </a:t>
            </a:r>
          </a:p>
          <a:p>
            <a:r>
              <a:rPr lang="es-CL" sz="1600" dirty="0"/>
              <a:t>    </a:t>
            </a:r>
            <a:r>
              <a:rPr lang="es-CL" sz="1600" dirty="0" err="1"/>
              <a:t>print</a:t>
            </a:r>
            <a:r>
              <a:rPr lang="es-CL" sz="1600" dirty="0"/>
              <a:t>(</a:t>
            </a:r>
            <a:r>
              <a:rPr lang="es-CL" sz="1600" dirty="0" err="1"/>
              <a:t>f“Procesando</a:t>
            </a:r>
            <a:r>
              <a:rPr lang="es-CL" sz="1600" dirty="0"/>
              <a:t> archivo {archivo}... [OK]")</a:t>
            </a:r>
          </a:p>
          <a:p>
            <a:endParaRPr lang="es-CL" sz="1600" dirty="0"/>
          </a:p>
          <a:p>
            <a:r>
              <a:rPr lang="es-CL" sz="1600" dirty="0" err="1"/>
              <a:t>print</a:t>
            </a:r>
            <a:r>
              <a:rPr lang="es-CL" sz="1600" dirty="0"/>
              <a:t>("--- Fin del reporte ---")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63580B-D88F-FB0F-732F-66A1A61C6321}"/>
              </a:ext>
            </a:extLst>
          </p:cNvPr>
          <p:cNvSpPr txBox="1"/>
          <p:nvPr/>
        </p:nvSpPr>
        <p:spPr>
          <a:xfrm>
            <a:off x="6765152" y="2752726"/>
            <a:ext cx="52163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¿Qué pasa aquí adentro? Vuelta 1, 2 y 3: </a:t>
            </a:r>
          </a:p>
          <a:p>
            <a:r>
              <a:rPr lang="es-CL" dirty="0"/>
              <a:t>El </a:t>
            </a:r>
            <a:r>
              <a:rPr lang="es-CL" dirty="0" err="1"/>
              <a:t>for</a:t>
            </a:r>
            <a:r>
              <a:rPr lang="es-CL" dirty="0"/>
              <a:t> toma "A", "B" y "C". </a:t>
            </a:r>
          </a:p>
          <a:p>
            <a:r>
              <a:rPr lang="es-CL" dirty="0"/>
              <a:t>El </a:t>
            </a:r>
            <a:r>
              <a:rPr lang="es-CL" dirty="0" err="1"/>
              <a:t>if</a:t>
            </a:r>
            <a:r>
              <a:rPr lang="es-CL" dirty="0"/>
              <a:t> dice "No es X", así que imprime [OK]. Vuelta 4: El </a:t>
            </a:r>
            <a:r>
              <a:rPr lang="es-CL" dirty="0" err="1"/>
              <a:t>for</a:t>
            </a:r>
            <a:r>
              <a:rPr lang="es-CL" dirty="0"/>
              <a:t> toma la "X". </a:t>
            </a:r>
          </a:p>
          <a:p>
            <a:r>
              <a:rPr lang="es-CL" dirty="0"/>
              <a:t>El </a:t>
            </a:r>
            <a:r>
              <a:rPr lang="es-CL" dirty="0" err="1"/>
              <a:t>if</a:t>
            </a:r>
            <a:r>
              <a:rPr lang="es-CL" dirty="0"/>
              <a:t> se cumple (True). </a:t>
            </a:r>
          </a:p>
          <a:p>
            <a:r>
              <a:rPr lang="es-CL" dirty="0"/>
              <a:t>El Break: Al ejecutarse el break, el </a:t>
            </a:r>
            <a:r>
              <a:rPr lang="es-CL" dirty="0" err="1"/>
              <a:t>for</a:t>
            </a:r>
            <a:r>
              <a:rPr lang="es-CL" dirty="0"/>
              <a:t> se "rompe". </a:t>
            </a:r>
          </a:p>
          <a:p>
            <a:r>
              <a:rPr lang="es-CL" dirty="0"/>
              <a:t>Python no sigue con la "E" ni con la "F". Salta directamente al final del código.</a:t>
            </a:r>
          </a:p>
        </p:txBody>
      </p:sp>
    </p:spTree>
    <p:extLst>
      <p:ext uri="{BB962C8B-B14F-4D97-AF65-F5344CB8AC3E}">
        <p14:creationId xmlns:p14="http://schemas.microsoft.com/office/powerpoint/2010/main" val="111311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362CC-AD4D-8B2F-9378-A560F841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Buscando una letra específica </a:t>
            </a:r>
            <a:br>
              <a:rPr lang="es-ES" dirty="0"/>
            </a:br>
            <a:r>
              <a:rPr lang="es-ES" dirty="0"/>
              <a:t>(Buscador de Tesoros)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2AC22-AC76-1F33-44E2-D623FDEE5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98482"/>
            <a:ext cx="11491365" cy="3963406"/>
          </a:xfrm>
        </p:spPr>
        <p:txBody>
          <a:bodyPr/>
          <a:lstStyle/>
          <a:p>
            <a:r>
              <a:rPr lang="es-ES" dirty="0"/>
              <a:t>A veces solo queremos saber si algo existe. Una vez que lo pillamos, no tiene sentido seguir buscando.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B6C394-831D-600E-C280-1E3625026EE1}"/>
              </a:ext>
            </a:extLst>
          </p:cNvPr>
          <p:cNvSpPr txBox="1"/>
          <p:nvPr/>
        </p:nvSpPr>
        <p:spPr>
          <a:xfrm>
            <a:off x="530258" y="2464292"/>
            <a:ext cx="68132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nombre = "esternocleidomastoideo"</a:t>
            </a:r>
          </a:p>
          <a:p>
            <a:r>
              <a:rPr lang="es-CL" dirty="0" err="1"/>
              <a:t>busqueda</a:t>
            </a:r>
            <a:r>
              <a:rPr lang="es-CL" dirty="0"/>
              <a:t> = "m"</a:t>
            </a:r>
          </a:p>
          <a:p>
            <a:r>
              <a:rPr lang="es-CL" dirty="0"/>
              <a:t>encontrado = False</a:t>
            </a:r>
          </a:p>
          <a:p>
            <a:endParaRPr lang="es-CL" dirty="0"/>
          </a:p>
          <a:p>
            <a:r>
              <a:rPr lang="es-CL" dirty="0" err="1"/>
              <a:t>for</a:t>
            </a:r>
            <a:r>
              <a:rPr lang="es-CL" dirty="0"/>
              <a:t> letra in nombre:</a:t>
            </a:r>
          </a:p>
          <a:p>
            <a:r>
              <a:rPr lang="es-CL" dirty="0"/>
              <a:t>    </a:t>
            </a:r>
            <a:r>
              <a:rPr lang="es-CL" dirty="0" err="1"/>
              <a:t>if</a:t>
            </a:r>
            <a:r>
              <a:rPr lang="es-CL" dirty="0"/>
              <a:t> letra == </a:t>
            </a:r>
            <a:r>
              <a:rPr lang="es-CL" dirty="0" err="1"/>
              <a:t>busqueda</a:t>
            </a:r>
            <a:r>
              <a:rPr lang="es-CL" dirty="0"/>
              <a:t>:</a:t>
            </a:r>
          </a:p>
          <a:p>
            <a:r>
              <a:rPr lang="es-CL" dirty="0"/>
              <a:t>        encontrado = True</a:t>
            </a:r>
          </a:p>
          <a:p>
            <a:r>
              <a:rPr lang="es-CL" dirty="0"/>
              <a:t>        break # Ya la encontré, no necesito revisar las otras 15 letras</a:t>
            </a:r>
          </a:p>
          <a:p>
            <a:endParaRPr lang="es-CL" dirty="0"/>
          </a:p>
          <a:p>
            <a:r>
              <a:rPr lang="es-CL" dirty="0" err="1"/>
              <a:t>if</a:t>
            </a:r>
            <a:r>
              <a:rPr lang="es-CL" dirty="0"/>
              <a:t> encontrado: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f"La</a:t>
            </a:r>
            <a:r>
              <a:rPr lang="es-CL" dirty="0"/>
              <a:t> letra '{</a:t>
            </a:r>
            <a:r>
              <a:rPr lang="es-CL" dirty="0" err="1"/>
              <a:t>busqueda</a:t>
            </a:r>
            <a:r>
              <a:rPr lang="es-CL" dirty="0"/>
              <a:t>}' sí está en la palabra.")</a:t>
            </a:r>
          </a:p>
          <a:p>
            <a:r>
              <a:rPr lang="es-CL" dirty="0" err="1"/>
              <a:t>else</a:t>
            </a:r>
            <a:r>
              <a:rPr lang="es-CL" dirty="0"/>
              <a:t>: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(f" No se encontró la letra.")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E5F2E5-47EC-17E9-83F2-0108CC2C66EC}"/>
              </a:ext>
            </a:extLst>
          </p:cNvPr>
          <p:cNvSpPr txBox="1"/>
          <p:nvPr/>
        </p:nvSpPr>
        <p:spPr>
          <a:xfrm>
            <a:off x="7861954" y="2614612"/>
            <a:ext cx="42326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continue vs break Es vital que los entiendan que estas dos palabras hacen cosas muy distintas: </a:t>
            </a:r>
          </a:p>
          <a:p>
            <a:r>
              <a:rPr lang="es-CL" b="1" dirty="0"/>
              <a:t>continue </a:t>
            </a:r>
            <a:r>
              <a:rPr lang="es-CL" dirty="0"/>
              <a:t>(El Salto): "Esta letra no me gusta, me la salto y paso a la siguiente". (El bucle sigue). </a:t>
            </a:r>
          </a:p>
          <a:p>
            <a:r>
              <a:rPr lang="es-CL" b="1" dirty="0"/>
              <a:t>break </a:t>
            </a:r>
            <a:r>
              <a:rPr lang="es-CL" dirty="0"/>
              <a:t>(La Pared): "¡Paren todo! No quiero ver nada más". (El bucle muere).</a:t>
            </a:r>
          </a:p>
        </p:txBody>
      </p:sp>
    </p:spTree>
    <p:extLst>
      <p:ext uri="{BB962C8B-B14F-4D97-AF65-F5344CB8AC3E}">
        <p14:creationId xmlns:p14="http://schemas.microsoft.com/office/powerpoint/2010/main" val="224413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3362D-78B2-C8C7-CD21-9620814D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 Censor de Palabras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1AC28C-E833-C475-475E-F62D3B7B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Crea un programa que recorra una palabra letra por letra e imprima cada una. Pero, si encuentra una </a:t>
            </a:r>
            <a:r>
              <a:rPr lang="es-ES" b="1" dirty="0"/>
              <a:t>vocal</a:t>
            </a:r>
            <a:r>
              <a:rPr lang="es-ES" dirty="0"/>
              <a:t>, debe usar continue para no imprimirla. Si encuentra la letra </a:t>
            </a:r>
            <a:r>
              <a:rPr lang="es-ES" b="1" dirty="0"/>
              <a:t>"Z"</a:t>
            </a:r>
            <a:r>
              <a:rPr lang="es-ES" dirty="0"/>
              <a:t>, debe usar break para detener el programa.</a:t>
            </a:r>
          </a:p>
          <a:p>
            <a:r>
              <a:rPr lang="es-ES" b="1" dirty="0"/>
              <a:t>Ejemplo de lógica que deben seguir:</a:t>
            </a:r>
            <a:endParaRPr lang="es-ES" dirty="0"/>
          </a:p>
          <a:p>
            <a:r>
              <a:rPr lang="es-ES" dirty="0"/>
              <a:t>Si la palabra es "MANZANA":</a:t>
            </a:r>
          </a:p>
          <a:p>
            <a:pPr lvl="1"/>
            <a:r>
              <a:rPr lang="es-ES" dirty="0"/>
              <a:t>Imprime: M</a:t>
            </a:r>
          </a:p>
          <a:p>
            <a:pPr lvl="1"/>
            <a:r>
              <a:rPr lang="es-ES" dirty="0"/>
              <a:t>(Encuentra A -&gt; salta)</a:t>
            </a:r>
          </a:p>
          <a:p>
            <a:pPr lvl="1"/>
            <a:r>
              <a:rPr lang="es-ES" dirty="0"/>
              <a:t>Imprime: N</a:t>
            </a:r>
          </a:p>
          <a:p>
            <a:pPr lvl="1"/>
            <a:r>
              <a:rPr lang="es-ES" dirty="0"/>
              <a:t>(Encuentra Z -&gt; ¡SE DETIENE!)</a:t>
            </a:r>
          </a:p>
          <a:p>
            <a:r>
              <a:rPr lang="es-ES" b="1" dirty="0"/>
              <a:t>Resultado final:</a:t>
            </a:r>
            <a:r>
              <a:rPr lang="es-ES" dirty="0"/>
              <a:t> M, N.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33865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D4657-F37E-75B0-90C8-E4CE573C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692" y="169682"/>
            <a:ext cx="4993154" cy="659876"/>
          </a:xfrm>
        </p:spPr>
        <p:txBody>
          <a:bodyPr>
            <a:normAutofit fontScale="90000"/>
          </a:bodyPr>
          <a:lstStyle/>
          <a:p>
            <a:r>
              <a:rPr lang="es-ES" dirty="0"/>
              <a:t>El Reto: ¿</a:t>
            </a:r>
            <a:r>
              <a:rPr lang="es-ES" dirty="0" err="1"/>
              <a:t>While</a:t>
            </a:r>
            <a:r>
              <a:rPr lang="es-ES" dirty="0"/>
              <a:t> o </a:t>
            </a:r>
            <a:r>
              <a:rPr lang="es-ES" dirty="0" err="1"/>
              <a:t>For</a:t>
            </a:r>
            <a:r>
              <a:rPr lang="es-ES" dirty="0"/>
              <a:t>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7CB141-6A3E-2FD5-44E8-D790C923F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18095"/>
            <a:ext cx="10691265" cy="4943793"/>
          </a:xfrm>
        </p:spPr>
        <p:txBody>
          <a:bodyPr/>
          <a:lstStyle/>
          <a:p>
            <a:r>
              <a:rPr lang="es-ES" b="1" dirty="0"/>
              <a:t>Escenario A (El Camión Aljibe):</a:t>
            </a:r>
            <a:r>
              <a:rPr lang="es-ES" dirty="0"/>
              <a:t> Tienes un camión que debe entregar agua a </a:t>
            </a:r>
            <a:r>
              <a:rPr lang="es-ES" b="1" dirty="0"/>
              <a:t>exactamente 10 casas</a:t>
            </a:r>
            <a:r>
              <a:rPr lang="es-ES" dirty="0"/>
              <a:t> de una calle.</a:t>
            </a:r>
          </a:p>
          <a:p>
            <a:r>
              <a:rPr lang="es-ES" i="1" dirty="0"/>
              <a:t>Pregunta:</a:t>
            </a:r>
            <a:r>
              <a:rPr lang="es-ES" dirty="0"/>
              <a:t> ¿Qué bucle usarías para recorrer las 10 casas una por una?</a:t>
            </a:r>
          </a:p>
          <a:p>
            <a:endParaRPr lang="es-CL" dirty="0"/>
          </a:p>
          <a:p>
            <a:r>
              <a:rPr lang="es-ES" b="1" dirty="0"/>
              <a:t>Escenario B (El Pozo de Agua):</a:t>
            </a:r>
            <a:r>
              <a:rPr lang="es-ES" dirty="0"/>
              <a:t> Tienes un pozo con una cantidad desconocida de litros. Debes sacar agua balde por balde </a:t>
            </a:r>
            <a:r>
              <a:rPr lang="es-ES" b="1" dirty="0"/>
              <a:t>hasta que el pozo se quede vacío</a:t>
            </a:r>
            <a:r>
              <a:rPr lang="es-ES" dirty="0"/>
              <a:t>. No sabes cuántos baldes saldrán.</a:t>
            </a:r>
          </a:p>
          <a:p>
            <a:r>
              <a:rPr lang="es-ES" i="1" dirty="0"/>
              <a:t>Pregunta:</a:t>
            </a:r>
            <a:r>
              <a:rPr lang="es-ES" dirty="0"/>
              <a:t> ¿Qué bucle usarías para seguir sacando agua?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06250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18300A-358F-A678-9E07-AEC9D1E73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810988"/>
            <a:ext cx="5587043" cy="5236024"/>
          </a:xfrm>
        </p:spPr>
        <p:txBody>
          <a:bodyPr/>
          <a:lstStyle/>
          <a:p>
            <a:r>
              <a:rPr lang="es-ES" sz="1600" b="1" dirty="0"/>
              <a:t>Solución Escenario A: Usamos FOR</a:t>
            </a:r>
          </a:p>
          <a:p>
            <a:r>
              <a:rPr lang="es-ES" sz="1600" dirty="0"/>
              <a:t>Como sabemos el número exacto (10 casas), el </a:t>
            </a:r>
            <a:r>
              <a:rPr lang="es-ES" sz="1600" dirty="0" err="1"/>
              <a:t>for</a:t>
            </a:r>
            <a:r>
              <a:rPr lang="es-ES" sz="1600" dirty="0"/>
              <a:t> es más limpio y eficiente.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360ED8-FD5E-4381-CA9A-D25DA3D973F3}"/>
              </a:ext>
            </a:extLst>
          </p:cNvPr>
          <p:cNvSpPr txBox="1"/>
          <p:nvPr/>
        </p:nvSpPr>
        <p:spPr>
          <a:xfrm>
            <a:off x="866088" y="1926193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Sabemos que termina en 10</a:t>
            </a:r>
          </a:p>
          <a:p>
            <a:r>
              <a:rPr lang="es-CL" dirty="0" err="1"/>
              <a:t>for</a:t>
            </a:r>
            <a:r>
              <a:rPr lang="es-CL" dirty="0"/>
              <a:t> casa in </a:t>
            </a:r>
            <a:r>
              <a:rPr lang="es-CL" dirty="0" err="1"/>
              <a:t>range</a:t>
            </a:r>
            <a:r>
              <a:rPr lang="es-CL" dirty="0"/>
              <a:t>(1, 11):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(f" Entregando agua en la casa número {casa}")</a:t>
            </a:r>
          </a:p>
          <a:p>
            <a:r>
              <a:rPr lang="es-CL" dirty="0" err="1"/>
              <a:t>print</a:t>
            </a:r>
            <a:r>
              <a:rPr lang="es-CL" dirty="0"/>
              <a:t>("Camión vacío, misión cumplida.")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C96462A-3B69-FBB3-0D2B-2BEB78158483}"/>
              </a:ext>
            </a:extLst>
          </p:cNvPr>
          <p:cNvSpPr txBox="1"/>
          <p:nvPr/>
        </p:nvSpPr>
        <p:spPr>
          <a:xfrm>
            <a:off x="7339944" y="1489435"/>
            <a:ext cx="4177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Solución Escenario B: Usamos </a:t>
            </a:r>
            <a:r>
              <a:rPr lang="es-ES" b="1" dirty="0">
                <a:latin typeface="Courier New" panose="02070309020205020404" pitchFamily="49" charset="0"/>
              </a:rPr>
              <a:t>WHILE</a:t>
            </a:r>
            <a:endParaRPr lang="es-ES" b="1" dirty="0"/>
          </a:p>
          <a:p>
            <a:pPr>
              <a:buNone/>
            </a:pPr>
            <a:r>
              <a:rPr lang="es-ES" dirty="0"/>
              <a:t>Como no sabemos cuánta agua hay, dependemos de una </a:t>
            </a:r>
            <a:r>
              <a:rPr lang="es-ES" b="1" dirty="0"/>
              <a:t>condición</a:t>
            </a:r>
            <a:r>
              <a:rPr lang="es-ES" dirty="0"/>
              <a:t> (que quede agua).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4BE3FC-1127-1C67-C8F4-C77F51F5513E}"/>
              </a:ext>
            </a:extLst>
          </p:cNvPr>
          <p:cNvSpPr txBox="1"/>
          <p:nvPr/>
        </p:nvSpPr>
        <p:spPr>
          <a:xfrm>
            <a:off x="6629400" y="2907691"/>
            <a:ext cx="52672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litros_en_pozo</a:t>
            </a:r>
            <a:r>
              <a:rPr lang="es-CL" dirty="0"/>
              <a:t> = 50 # Podría ser cualquier número</a:t>
            </a:r>
          </a:p>
          <a:p>
            <a:r>
              <a:rPr lang="es-CL" dirty="0" err="1"/>
              <a:t>baldes_sacados</a:t>
            </a:r>
            <a:r>
              <a:rPr lang="es-CL" dirty="0"/>
              <a:t> = 0</a:t>
            </a:r>
          </a:p>
          <a:p>
            <a:endParaRPr lang="es-CL" dirty="0"/>
          </a:p>
          <a:p>
            <a:r>
              <a:rPr lang="es-CL" dirty="0" err="1"/>
              <a:t>while</a:t>
            </a:r>
            <a:r>
              <a:rPr lang="es-CL" dirty="0"/>
              <a:t> </a:t>
            </a:r>
            <a:r>
              <a:rPr lang="es-CL" dirty="0" err="1"/>
              <a:t>litros_en_pozo</a:t>
            </a:r>
            <a:r>
              <a:rPr lang="es-CL" dirty="0"/>
              <a:t> &gt; 0:</a:t>
            </a:r>
          </a:p>
          <a:p>
            <a:r>
              <a:rPr lang="es-CL" dirty="0"/>
              <a:t>    </a:t>
            </a:r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f"Sacando</a:t>
            </a:r>
            <a:r>
              <a:rPr lang="es-CL" dirty="0"/>
              <a:t> balde... Quedan {</a:t>
            </a:r>
            <a:r>
              <a:rPr lang="es-CL" dirty="0" err="1"/>
              <a:t>litros_en_pozo</a:t>
            </a:r>
            <a:r>
              <a:rPr lang="es-CL" dirty="0"/>
              <a:t>} litros.")</a:t>
            </a:r>
          </a:p>
          <a:p>
            <a:r>
              <a:rPr lang="es-CL" dirty="0"/>
              <a:t>    </a:t>
            </a:r>
            <a:r>
              <a:rPr lang="es-CL" dirty="0" err="1"/>
              <a:t>litros_en_pozo</a:t>
            </a:r>
            <a:r>
              <a:rPr lang="es-CL" dirty="0"/>
              <a:t> -= 10 # Sacamos de a 10 litros</a:t>
            </a:r>
          </a:p>
          <a:p>
            <a:r>
              <a:rPr lang="es-CL" dirty="0"/>
              <a:t>    </a:t>
            </a:r>
            <a:r>
              <a:rPr lang="es-CL" dirty="0" err="1"/>
              <a:t>baldes_sacados</a:t>
            </a:r>
            <a:r>
              <a:rPr lang="es-CL" dirty="0"/>
              <a:t> += 1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(f" El pozo está seco. Se sacaron {</a:t>
            </a:r>
            <a:r>
              <a:rPr lang="es-CL" dirty="0" err="1"/>
              <a:t>baldes_sacados</a:t>
            </a:r>
            <a:r>
              <a:rPr lang="es-CL" dirty="0"/>
              <a:t>} baldes.")</a:t>
            </a:r>
          </a:p>
        </p:txBody>
      </p:sp>
    </p:spTree>
    <p:extLst>
      <p:ext uri="{BB962C8B-B14F-4D97-AF65-F5344CB8AC3E}">
        <p14:creationId xmlns:p14="http://schemas.microsoft.com/office/powerpoint/2010/main" val="525914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888B2-CC42-DA65-D565-895BB5D3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 quitar tus dudas</a:t>
            </a:r>
            <a:endParaRPr lang="es-CL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FDFB45B-411C-F9EA-4C8F-D7C01020B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668235"/>
              </p:ext>
            </p:extLst>
          </p:nvPr>
        </p:nvGraphicFramePr>
        <p:xfrm>
          <a:off x="800100" y="2087408"/>
          <a:ext cx="10691812" cy="2938106"/>
        </p:xfrm>
        <a:graphic>
          <a:graphicData uri="http://schemas.openxmlformats.org/drawingml/2006/table">
            <a:tbl>
              <a:tblPr/>
              <a:tblGrid>
                <a:gridCol w="3685435">
                  <a:extLst>
                    <a:ext uri="{9D8B030D-6E8A-4147-A177-3AD203B41FA5}">
                      <a16:colId xmlns:a16="http://schemas.microsoft.com/office/drawing/2014/main" val="208982179"/>
                    </a:ext>
                  </a:extLst>
                </a:gridCol>
                <a:gridCol w="3685435">
                  <a:extLst>
                    <a:ext uri="{9D8B030D-6E8A-4147-A177-3AD203B41FA5}">
                      <a16:colId xmlns:a16="http://schemas.microsoft.com/office/drawing/2014/main" val="2381095609"/>
                    </a:ext>
                  </a:extLst>
                </a:gridCol>
                <a:gridCol w="3320942">
                  <a:extLst>
                    <a:ext uri="{9D8B030D-6E8A-4147-A177-3AD203B41FA5}">
                      <a16:colId xmlns:a16="http://schemas.microsoft.com/office/drawing/2014/main" val="3187136487"/>
                    </a:ext>
                  </a:extLst>
                </a:gridCol>
              </a:tblGrid>
              <a:tr h="6521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 la respuesta a...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...es SÍ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...es NO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16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¿Sé cuántas veces se repite?</a:t>
                      </a:r>
                      <a:endParaRPr lang="es-E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 </a:t>
                      </a: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FOR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✅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 </a:t>
                      </a: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WHILE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🔄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49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¿Depende de una respuesta del usuario?</a:t>
                      </a:r>
                      <a:endParaRPr lang="es-E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 </a:t>
                      </a: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WHILE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🔄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 </a:t>
                      </a: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FOR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✅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90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¿Voy a recorrer una lista/texto completo?</a:t>
                      </a:r>
                      <a:endParaRPr lang="es-E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 </a:t>
                      </a: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FOR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✅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 </a:t>
                      </a:r>
                      <a:r>
                        <a:rPr lang="es-CL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WHILE</a:t>
                      </a:r>
                      <a:r>
                        <a:rPr lang="es-C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🔄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545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47471-0156-4888-9FEC-C5D943A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 Inventario del Almacén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41DCA5-ECB9-2220-01DB-2E716FF46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scribe</a:t>
            </a:r>
            <a:r>
              <a:rPr lang="es-ES" dirty="0"/>
              <a:t> un programa para un almacén que tiene </a:t>
            </a:r>
            <a:r>
              <a:rPr lang="es-ES" b="1" dirty="0"/>
              <a:t>8 productos</a:t>
            </a:r>
            <a:r>
              <a:rPr lang="es-ES" dirty="0"/>
              <a:t> en estantería.</a:t>
            </a:r>
          </a:p>
          <a:p>
            <a:r>
              <a:rPr lang="es-ES" dirty="0"/>
              <a:t>El programa debe recorrer los 8 productos (del 1 al 8).</a:t>
            </a:r>
          </a:p>
          <a:p>
            <a:r>
              <a:rPr lang="es-ES" dirty="0"/>
              <a:t>Para cada producto, debe preguntar al usuario: "¿El producto está vencido? (si/no)".</a:t>
            </a:r>
          </a:p>
          <a:p>
            <a:r>
              <a:rPr lang="es-ES" dirty="0"/>
              <a:t>Si el usuario responde "si", el programa debe mostrar "🚨 Alerta: Retirar producto X" y </a:t>
            </a:r>
            <a:r>
              <a:rPr lang="es-ES" b="1" dirty="0"/>
              <a:t>detenerse de inmediato</a:t>
            </a:r>
            <a:r>
              <a:rPr lang="es-ES" dirty="0"/>
              <a:t> (porque hay que limpiar todo el estante).</a:t>
            </a:r>
          </a:p>
          <a:p>
            <a:r>
              <a:rPr lang="es-ES" dirty="0"/>
              <a:t>Si llega al final sin encontrar vencidos, debe decir "✅ Todo en orden".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91627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DC211-FD9B-82CF-E9DF-0422C1C5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213" y="84841"/>
            <a:ext cx="2259382" cy="641023"/>
          </a:xfrm>
        </p:spPr>
        <p:txBody>
          <a:bodyPr>
            <a:normAutofit fontScale="90000"/>
          </a:bodyPr>
          <a:lstStyle/>
          <a:p>
            <a:r>
              <a:rPr lang="es-ES" dirty="0"/>
              <a:t>Solución </a:t>
            </a:r>
            <a:endParaRPr lang="es-CL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DF942E5-F053-75AD-7296-634494E43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420" y="1133809"/>
            <a:ext cx="11028286" cy="459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6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D7BB97-DC12-9F92-7537-76B5B09DE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52107"/>
            <a:ext cx="10691265" cy="5009781"/>
          </a:xfrm>
        </p:spPr>
        <p:txBody>
          <a:bodyPr/>
          <a:lstStyle/>
          <a:p>
            <a:r>
              <a:rPr lang="es-ES" b="1" dirty="0"/>
              <a:t>Puntos clave :</a:t>
            </a:r>
          </a:p>
          <a:p>
            <a:r>
              <a:rPr lang="es-ES" b="1" dirty="0"/>
              <a:t>¿Por qué </a:t>
            </a:r>
            <a:r>
              <a:rPr lang="es-ES" b="1" dirty="0" err="1"/>
              <a:t>range</a:t>
            </a:r>
            <a:r>
              <a:rPr lang="es-ES" b="1" dirty="0"/>
              <a:t>(1, 9) o </a:t>
            </a:r>
            <a:r>
              <a:rPr lang="es-ES" b="1" dirty="0" err="1"/>
              <a:t>range</a:t>
            </a:r>
            <a:r>
              <a:rPr lang="es-ES" b="1" dirty="0"/>
              <a:t>(1, </a:t>
            </a:r>
            <a:r>
              <a:rPr lang="es-ES" b="1" dirty="0" err="1"/>
              <a:t>total_productos</a:t>
            </a:r>
            <a:r>
              <a:rPr lang="es-ES" b="1" dirty="0"/>
              <a:t> + 1)?</a:t>
            </a:r>
            <a:endParaRPr lang="es-ES" dirty="0"/>
          </a:p>
          <a:p>
            <a:pPr lvl="1"/>
            <a:r>
              <a:rPr lang="es-ES" dirty="0"/>
              <a:t>Recuerden que si ponemos </a:t>
            </a:r>
            <a:r>
              <a:rPr lang="es-ES" dirty="0" err="1"/>
              <a:t>range</a:t>
            </a:r>
            <a:r>
              <a:rPr lang="es-ES" dirty="0"/>
              <a:t>(8), Python contará del 0 al 7. Para que el usuario vea "Producto 1" hasta "Producto 8", usamos el inicio en 1 y el final en 9.</a:t>
            </a:r>
          </a:p>
          <a:p>
            <a:r>
              <a:rPr lang="es-ES" b="1" dirty="0"/>
              <a:t>El poder del break:</a:t>
            </a:r>
            <a:endParaRPr lang="es-ES" dirty="0"/>
          </a:p>
          <a:p>
            <a:pPr lvl="1"/>
            <a:r>
              <a:rPr lang="es-ES" dirty="0"/>
              <a:t>Si el producto </a:t>
            </a:r>
            <a:r>
              <a:rPr lang="es-ES" b="1" dirty="0"/>
              <a:t>número 3</a:t>
            </a:r>
            <a:r>
              <a:rPr lang="es-ES" dirty="0"/>
              <a:t> está vencido, el programa </a:t>
            </a:r>
            <a:r>
              <a:rPr lang="es-ES" b="1" dirty="0"/>
              <a:t>no preguntará</a:t>
            </a:r>
            <a:r>
              <a:rPr lang="es-ES" dirty="0"/>
              <a:t> por el 4, 5, 6, 7 ni 8. El break "rompe" el ciclo de raíz.</a:t>
            </a:r>
          </a:p>
          <a:p>
            <a:r>
              <a:rPr lang="es-ES" b="1" dirty="0"/>
              <a:t>El </a:t>
            </a:r>
            <a:r>
              <a:rPr lang="es-ES" b="1" dirty="0" err="1"/>
              <a:t>else</a:t>
            </a:r>
            <a:r>
              <a:rPr lang="es-ES" b="1" dirty="0"/>
              <a:t> del bucle (Nivel Avanzado):</a:t>
            </a:r>
            <a:endParaRPr lang="es-ES" dirty="0"/>
          </a:p>
          <a:p>
            <a:pPr lvl="1"/>
            <a:r>
              <a:rPr lang="es-ES" dirty="0"/>
              <a:t>Este es un truco genial de Python. El </a:t>
            </a:r>
            <a:r>
              <a:rPr lang="es-ES" dirty="0" err="1"/>
              <a:t>else</a:t>
            </a:r>
            <a:r>
              <a:rPr lang="es-ES" dirty="0"/>
              <a:t> al final de un </a:t>
            </a:r>
            <a:r>
              <a:rPr lang="es-ES" dirty="0" err="1"/>
              <a:t>for</a:t>
            </a:r>
            <a:r>
              <a:rPr lang="es-ES" dirty="0"/>
              <a:t> funciona como un mensaje de "Misión Cumplida". Si el break se activa, el </a:t>
            </a:r>
            <a:r>
              <a:rPr lang="es-ES" dirty="0" err="1"/>
              <a:t>else</a:t>
            </a:r>
            <a:r>
              <a:rPr lang="es-ES" dirty="0"/>
              <a:t> se ignora. Si el </a:t>
            </a:r>
            <a:r>
              <a:rPr lang="es-ES" dirty="0" err="1"/>
              <a:t>for</a:t>
            </a:r>
            <a:r>
              <a:rPr lang="es-ES" dirty="0"/>
              <a:t> llega al final felizmente, el </a:t>
            </a:r>
            <a:r>
              <a:rPr lang="es-ES" dirty="0" err="1"/>
              <a:t>else</a:t>
            </a:r>
            <a:r>
              <a:rPr lang="es-ES" dirty="0"/>
              <a:t> se ejecuta.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78412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754F3-A892-3FE9-5718-515DBB49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Validador de Mayoría de Edad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68F2D8-D83E-1248-C4EE-4BDA5764A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48614"/>
            <a:ext cx="10691265" cy="3739896"/>
          </a:xfrm>
        </p:spPr>
        <p:txBody>
          <a:bodyPr/>
          <a:lstStyle/>
          <a:p>
            <a:r>
              <a:rPr lang="es-ES" b="1" dirty="0"/>
              <a:t>Escenario:</a:t>
            </a:r>
            <a:r>
              <a:rPr lang="es-ES" dirty="0"/>
              <a:t> Un sitio web requiere que el usuario sea mayor de 18 años para entrar. </a:t>
            </a:r>
            <a:r>
              <a:rPr lang="es-ES" b="1" dirty="0"/>
              <a:t>Instrucciones:</a:t>
            </a:r>
            <a:endParaRPr lang="es-ES" dirty="0"/>
          </a:p>
          <a:p>
            <a:r>
              <a:rPr lang="es-ES" dirty="0"/>
              <a:t>Crea un programa que pida la edad al usuario.</a:t>
            </a:r>
          </a:p>
          <a:p>
            <a:r>
              <a:rPr lang="es-ES" dirty="0"/>
              <a:t>Si la edad es </a:t>
            </a:r>
            <a:r>
              <a:rPr lang="es-ES" b="1" dirty="0"/>
              <a:t>menor a 18</a:t>
            </a:r>
            <a:r>
              <a:rPr lang="es-ES" dirty="0"/>
              <a:t>, debe mostrar un error: "Acceso denegado. Debes ser mayor de edad" y </a:t>
            </a:r>
            <a:r>
              <a:rPr lang="es-ES" b="1" dirty="0"/>
              <a:t>volver a pedir la edad</a:t>
            </a:r>
            <a:r>
              <a:rPr lang="es-ES" dirty="0"/>
              <a:t> inmediatamente.</a:t>
            </a:r>
          </a:p>
          <a:p>
            <a:r>
              <a:rPr lang="es-ES" dirty="0"/>
              <a:t>El bucle solo debe terminar cuando el usuario ingrese una edad válida (18 o más).</a:t>
            </a:r>
          </a:p>
          <a:p>
            <a:r>
              <a:rPr lang="es-ES" dirty="0"/>
              <a:t>Al final, debe imprimir: "¡Bienvenido al sistema!".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5638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E7C3D-E17A-73A1-D261-1C80D2FE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Contador de "A" con Límite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5732EC-3C61-191D-1F39-F9A6AFE98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882627"/>
            <a:ext cx="10691265" cy="3739896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Escenario:</a:t>
            </a:r>
            <a:r>
              <a:rPr lang="es-ES" dirty="0"/>
              <a:t> Un analizador de texto que se detiene por seguridad si encuentra demasiadas letras prohibidas. </a:t>
            </a:r>
            <a:r>
              <a:rPr lang="es-ES" b="1" dirty="0"/>
              <a:t>Instrucciones:</a:t>
            </a:r>
            <a:endParaRPr lang="es-ES" dirty="0"/>
          </a:p>
          <a:p>
            <a:r>
              <a:rPr lang="es-ES" dirty="0"/>
              <a:t>Crea una variable palabra (puedes pedirla por input).</a:t>
            </a:r>
          </a:p>
          <a:p>
            <a:r>
              <a:rPr lang="es-ES" dirty="0"/>
              <a:t>Crea un contador </a:t>
            </a:r>
            <a:r>
              <a:rPr lang="es-ES" dirty="0" err="1"/>
              <a:t>cuenta_a</a:t>
            </a:r>
            <a:r>
              <a:rPr lang="es-ES" dirty="0"/>
              <a:t> = 0.</a:t>
            </a:r>
          </a:p>
          <a:p>
            <a:r>
              <a:rPr lang="es-ES" dirty="0"/>
              <a:t>Usa un </a:t>
            </a:r>
            <a:r>
              <a:rPr lang="es-ES" dirty="0" err="1"/>
              <a:t>for</a:t>
            </a:r>
            <a:r>
              <a:rPr lang="es-ES" dirty="0"/>
              <a:t> para recorrer la palabra letra por letra.</a:t>
            </a:r>
          </a:p>
          <a:p>
            <a:r>
              <a:rPr lang="es-ES" b="1" dirty="0"/>
              <a:t>Si</a:t>
            </a:r>
            <a:r>
              <a:rPr lang="es-ES" dirty="0"/>
              <a:t> la letra es una "a":</a:t>
            </a:r>
          </a:p>
          <a:p>
            <a:pPr lvl="1"/>
            <a:r>
              <a:rPr lang="es-ES" dirty="0"/>
              <a:t>Súmale 1 al contador.</a:t>
            </a:r>
          </a:p>
          <a:p>
            <a:pPr lvl="1"/>
            <a:r>
              <a:rPr lang="es-ES" b="1" dirty="0"/>
              <a:t>Pero si</a:t>
            </a:r>
            <a:r>
              <a:rPr lang="es-ES" dirty="0"/>
              <a:t> el contador llega a </a:t>
            </a:r>
            <a:r>
              <a:rPr lang="es-ES" b="1" dirty="0"/>
              <a:t>3</a:t>
            </a:r>
            <a:r>
              <a:rPr lang="es-ES" dirty="0"/>
              <a:t>, el programa debe imprimir "⚠️ Límite de 'a' alcanzado. Abortando..." y usar un break para salir.</a:t>
            </a:r>
          </a:p>
          <a:p>
            <a:r>
              <a:rPr lang="es-ES" dirty="0"/>
              <a:t>Si no es una "a", simplemente imprime la letra actual.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46707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5D9E5F3-09B6-A386-F2B5-6721C0864483}"/>
              </a:ext>
            </a:extLst>
          </p:cNvPr>
          <p:cNvSpPr txBox="1"/>
          <p:nvPr/>
        </p:nvSpPr>
        <p:spPr>
          <a:xfrm>
            <a:off x="546754" y="1030699"/>
            <a:ext cx="90685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## Conclusiones de Estructuras de Control</a:t>
            </a:r>
          </a:p>
          <a:p>
            <a:endParaRPr lang="es-CL" dirty="0"/>
          </a:p>
          <a:p>
            <a:r>
              <a:rPr lang="es-CL" dirty="0"/>
              <a:t>| Estructura | Función Principal | Palabra Clave |</a:t>
            </a:r>
          </a:p>
          <a:p>
            <a:endParaRPr lang="es-CL" dirty="0"/>
          </a:p>
          <a:p>
            <a:r>
              <a:rPr lang="es-CL" dirty="0"/>
              <a:t>| **</a:t>
            </a:r>
            <a:r>
              <a:rPr lang="es-CL" dirty="0" err="1"/>
              <a:t>if</a:t>
            </a:r>
            <a:r>
              <a:rPr lang="es-CL" dirty="0"/>
              <a:t> / </a:t>
            </a:r>
            <a:r>
              <a:rPr lang="es-CL" dirty="0" err="1"/>
              <a:t>elif</a:t>
            </a:r>
            <a:r>
              <a:rPr lang="es-CL" dirty="0"/>
              <a:t> / </a:t>
            </a:r>
            <a:r>
              <a:rPr lang="es-CL" dirty="0" err="1"/>
              <a:t>else</a:t>
            </a:r>
            <a:r>
              <a:rPr lang="es-CL" dirty="0"/>
              <a:t>** | Tomar una decisión única. | `</a:t>
            </a:r>
            <a:r>
              <a:rPr lang="es-CL" dirty="0" err="1"/>
              <a:t>if</a:t>
            </a:r>
            <a:r>
              <a:rPr lang="es-CL" dirty="0"/>
              <a:t>` |</a:t>
            </a:r>
          </a:p>
          <a:p>
            <a:r>
              <a:rPr lang="es-CL" dirty="0"/>
              <a:t>| **match-case** | Elegir entre opciones exactas (menús). | `case` |</a:t>
            </a:r>
          </a:p>
          <a:p>
            <a:r>
              <a:rPr lang="es-CL" dirty="0"/>
              <a:t>| **</a:t>
            </a:r>
            <a:r>
              <a:rPr lang="es-CL" dirty="0" err="1"/>
              <a:t>while</a:t>
            </a:r>
            <a:r>
              <a:rPr lang="es-CL" dirty="0"/>
              <a:t>** | Repetir hasta que una condición cambie. | `</a:t>
            </a:r>
            <a:r>
              <a:rPr lang="es-CL" dirty="0" err="1"/>
              <a:t>while</a:t>
            </a:r>
            <a:r>
              <a:rPr lang="es-CL" dirty="0"/>
              <a:t>` |</a:t>
            </a:r>
          </a:p>
          <a:p>
            <a:r>
              <a:rPr lang="es-CL" dirty="0"/>
              <a:t>| **</a:t>
            </a:r>
            <a:r>
              <a:rPr lang="es-CL" dirty="0" err="1"/>
              <a:t>for</a:t>
            </a:r>
            <a:r>
              <a:rPr lang="es-CL" dirty="0"/>
              <a:t>** | Recorrer una lista o rango definido. | `in` |</a:t>
            </a:r>
          </a:p>
          <a:p>
            <a:r>
              <a:rPr lang="es-CL" dirty="0"/>
              <a:t>| **break** | Salir del bucle inmediatamente. | `break` |</a:t>
            </a:r>
          </a:p>
          <a:p>
            <a:r>
              <a:rPr lang="es-CL" dirty="0"/>
              <a:t>| **continue** | Saltar a la siguiente vuelta del bucle. | `continue` |</a:t>
            </a:r>
          </a:p>
          <a:p>
            <a:endParaRPr lang="es-CL" dirty="0"/>
          </a:p>
          <a:p>
            <a:r>
              <a:rPr lang="es-CL" dirty="0"/>
              <a:t>&gt; **Nota:** Un buen código no es el más largo, sino el más claro. Usa `</a:t>
            </a:r>
            <a:r>
              <a:rPr lang="es-CL" dirty="0" err="1"/>
              <a:t>for</a:t>
            </a:r>
            <a:r>
              <a:rPr lang="es-CL" dirty="0"/>
              <a:t>` para datos fijos y `</a:t>
            </a:r>
            <a:r>
              <a:rPr lang="es-CL" dirty="0" err="1"/>
              <a:t>while</a:t>
            </a:r>
            <a:r>
              <a:rPr lang="es-CL" dirty="0"/>
              <a:t>` para validaciones externas.</a:t>
            </a:r>
          </a:p>
        </p:txBody>
      </p:sp>
    </p:spTree>
    <p:extLst>
      <p:ext uri="{BB962C8B-B14F-4D97-AF65-F5344CB8AC3E}">
        <p14:creationId xmlns:p14="http://schemas.microsoft.com/office/powerpoint/2010/main" val="228269126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101d8b-ff64-4076-b8ae-32b73fdb90d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F5E72EF5AFE40B8C13C9FDDBBDDC4" ma:contentTypeVersion="9" ma:contentTypeDescription="Create a new document." ma:contentTypeScope="" ma:versionID="9dc1cbe20f852d820ab786f0ec5a69d2">
  <xsd:schema xmlns:xsd="http://www.w3.org/2001/XMLSchema" xmlns:xs="http://www.w3.org/2001/XMLSchema" xmlns:p="http://schemas.microsoft.com/office/2006/metadata/properties" xmlns:ns3="bd101d8b-ff64-4076-b8ae-32b73fdb90d4" targetNamespace="http://schemas.microsoft.com/office/2006/metadata/properties" ma:root="true" ma:fieldsID="b16ad62e8496978780fcf3575a9b9b45" ns3:_="">
    <xsd:import namespace="bd101d8b-ff64-4076-b8ae-32b73fdb90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101d8b-ff64-4076-b8ae-32b73fdb90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9FE16E-07DB-4CB5-89FF-208ED331A2D8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bd101d8b-ff64-4076-b8ae-32b73fdb90d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2775DBF-0AC7-4228-B2A8-E02BA679CA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B058DA-72D9-4077-8FC3-58FE015207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101d8b-ff64-4076-b8ae-32b73fdb90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2339</Words>
  <Application>Microsoft Office PowerPoint</Application>
  <PresentationFormat>Panorámica</PresentationFormat>
  <Paragraphs>200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Calisto MT</vt:lpstr>
      <vt:lpstr>Courier New</vt:lpstr>
      <vt:lpstr>Google Sans Text</vt:lpstr>
      <vt:lpstr>Univers Condensed</vt:lpstr>
      <vt:lpstr>ChronicleVTI</vt:lpstr>
      <vt:lpstr>Bucle for</vt:lpstr>
      <vt:lpstr>Aprendizajes esperados</vt:lpstr>
      <vt:lpstr>Bucle for</vt:lpstr>
      <vt:lpstr>La Estructura Básica En Python, el for se lee casi como una oración en inglés: </vt:lpstr>
      <vt:lpstr>estructura</vt:lpstr>
      <vt:lpstr>El aliado inseparable: range()</vt:lpstr>
      <vt:lpstr>Diferencia Clave: for vs while</vt:lpstr>
      <vt:lpstr>ejemplos</vt:lpstr>
      <vt:lpstr>El Contador de Vocales  (Recorriendo un String)</vt:lpstr>
      <vt:lpstr>El Detector de Virus</vt:lpstr>
      <vt:lpstr>Buscando una letra específica  (Buscador de Tesoros)</vt:lpstr>
      <vt:lpstr>El Censor de Palabras</vt:lpstr>
      <vt:lpstr>El Reto: ¿While o For?</vt:lpstr>
      <vt:lpstr>Presentación de PowerPoint</vt:lpstr>
      <vt:lpstr>Para quitar tus dudas</vt:lpstr>
      <vt:lpstr>El Inventario del Almacén</vt:lpstr>
      <vt:lpstr>Solución </vt:lpstr>
      <vt:lpstr>Presentación de PowerPoint</vt:lpstr>
      <vt:lpstr>El Validador de Mayoría de Edad </vt:lpstr>
      <vt:lpstr>El Contador de "A" con Límite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2</cp:revision>
  <dcterms:created xsi:type="dcterms:W3CDTF">2026-03-31T14:25:38Z</dcterms:created>
  <dcterms:modified xsi:type="dcterms:W3CDTF">2026-04-01T03:03:25Z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0x01010039DF5E72EF5AFE40B8C13C9FDDBBDDC4</vt:lpwstr>
  </property>
</Properties>
</file>