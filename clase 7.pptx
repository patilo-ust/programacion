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1" r:id="rId12"/>
    <p:sldId id="266" r:id="rId13"/>
    <p:sldId id="267" r:id="rId14"/>
    <p:sldId id="268" r:id="rId15"/>
    <p:sldId id="269" r:id="rId16"/>
    <p:sldId id="270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88D40C-CE54-EF47-B3CE-2F76BA5A52F2}" v="22" dt="2026-04-07T22:22:01.5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4/11/26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4/11/26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4/11/26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4/11/26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4/11/26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4/11/26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4/11/26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4/11/26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4/11/26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4/11/26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4/11/26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4/11/26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E48B48-D89A-96FB-A621-565B06543F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5786" y="3428998"/>
            <a:ext cx="7740501" cy="2268559"/>
          </a:xfrm>
        </p:spPr>
        <p:txBody>
          <a:bodyPr>
            <a:normAutofit/>
          </a:bodyPr>
          <a:lstStyle/>
          <a:p>
            <a:r>
              <a:rPr lang="es-CL" sz="4800" dirty="0"/>
              <a:t>Listas, tuplas y diccionarios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3B5CE01-3340-A9B8-F649-D374249A74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L" dirty="0"/>
              <a:t>Clase 7</a:t>
            </a:r>
          </a:p>
        </p:txBody>
      </p:sp>
    </p:spTree>
    <p:extLst>
      <p:ext uri="{BB962C8B-B14F-4D97-AF65-F5344CB8AC3E}">
        <p14:creationId xmlns:p14="http://schemas.microsoft.com/office/powerpoint/2010/main" val="1170767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715FBD-AADE-95DE-76ED-50E19FD72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Aprendizajes esperados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093F475-5FE0-7698-9880-FFC641A0A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Entender que es cada una</a:t>
            </a:r>
          </a:p>
          <a:p>
            <a:r>
              <a:rPr lang="es-CL" dirty="0"/>
              <a:t>Ver la diferencia entre las 3</a:t>
            </a:r>
          </a:p>
          <a:p>
            <a:r>
              <a:rPr lang="es-CL" dirty="0"/>
              <a:t>Casos de uso y ejemplos</a:t>
            </a:r>
          </a:p>
          <a:p>
            <a:r>
              <a:rPr lang="es-CL" dirty="0"/>
              <a:t>Ejercicios</a:t>
            </a:r>
          </a:p>
          <a:p>
            <a:r>
              <a:rPr lang="es-CL" dirty="0"/>
              <a:t>Cierre de clase</a:t>
            </a:r>
          </a:p>
        </p:txBody>
      </p:sp>
    </p:spTree>
    <p:extLst>
      <p:ext uri="{BB962C8B-B14F-4D97-AF65-F5344CB8AC3E}">
        <p14:creationId xmlns:p14="http://schemas.microsoft.com/office/powerpoint/2010/main" val="2245604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05FB14-10E1-789E-EB65-47A48FA04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L" dirty="0"/>
              <a:t>Estructuras de Datos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D6DF7F-B374-0248-F711-CC0A2BD965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Hasta ahora hemos usado variables como una sola caja. Hoy aprenderemos a usar </a:t>
            </a:r>
            <a:r>
              <a:rPr lang="es-CL" b="1" dirty="0"/>
              <a:t>contenedores</a:t>
            </a:r>
            <a:r>
              <a:rPr lang="es-CL" dirty="0"/>
              <a:t> que guardan muchos datos a la vez.</a:t>
            </a:r>
          </a:p>
        </p:txBody>
      </p:sp>
    </p:spTree>
    <p:extLst>
      <p:ext uri="{BB962C8B-B14F-4D97-AF65-F5344CB8AC3E}">
        <p14:creationId xmlns:p14="http://schemas.microsoft.com/office/powerpoint/2010/main" val="2079220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0614BB-63F7-7536-BC62-21CE5B7CD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L" dirty="0"/>
              <a:t>Las Listas [ ] (El estante que cambia)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70A762-6EED-3DF8-6D23-734069EB1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4763" y="1626813"/>
            <a:ext cx="9145376" cy="1690544"/>
          </a:xfrm>
        </p:spPr>
        <p:txBody>
          <a:bodyPr/>
          <a:lstStyle/>
          <a:p>
            <a:r>
              <a:rPr lang="es-CL" dirty="0"/>
              <a:t>Las listas son como un estante de supermercado: puedes poner cosas, sacarlas, cambiarlas de lugar o agregar más al final.</a:t>
            </a:r>
          </a:p>
          <a:p>
            <a:r>
              <a:rPr lang="es-CL" b="1" dirty="0"/>
              <a:t>Concepto Clave:</a:t>
            </a:r>
            <a:r>
              <a:rPr lang="es-CL" dirty="0"/>
              <a:t> Son </a:t>
            </a:r>
            <a:r>
              <a:rPr lang="es-CL" b="1" dirty="0"/>
              <a:t>Mutables</a:t>
            </a:r>
            <a:r>
              <a:rPr lang="es-CL" dirty="0"/>
              <a:t> (se pueden modificar).</a:t>
            </a:r>
          </a:p>
          <a:p>
            <a:endParaRPr lang="es-CL" b="1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FE26584-3981-834A-058C-ED02358625FE}"/>
              </a:ext>
            </a:extLst>
          </p:cNvPr>
          <p:cNvSpPr txBox="1"/>
          <p:nvPr/>
        </p:nvSpPr>
        <p:spPr>
          <a:xfrm>
            <a:off x="3047114" y="2911687"/>
            <a:ext cx="609777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# Creando nuestro estante</a:t>
            </a:r>
          </a:p>
          <a:p>
            <a:r>
              <a:rPr lang="es-CL" dirty="0" err="1"/>
              <a:t>utiles</a:t>
            </a:r>
            <a:r>
              <a:rPr lang="es-CL" dirty="0"/>
              <a:t> = ["Lápiz", "Cuaderno", "Goma"]</a:t>
            </a:r>
          </a:p>
          <a:p>
            <a:endParaRPr lang="es-CL" dirty="0"/>
          </a:p>
          <a:p>
            <a:r>
              <a:rPr lang="es-CL" dirty="0"/>
              <a:t># Operación 1: Acceso (Índices)</a:t>
            </a:r>
          </a:p>
          <a:p>
            <a:r>
              <a:rPr lang="es-CL" dirty="0" err="1"/>
              <a:t>print</a:t>
            </a:r>
            <a:r>
              <a:rPr lang="es-CL" dirty="0"/>
              <a:t>(</a:t>
            </a:r>
            <a:r>
              <a:rPr lang="es-CL" dirty="0" err="1"/>
              <a:t>utiles</a:t>
            </a:r>
            <a:r>
              <a:rPr lang="es-CL" dirty="0"/>
              <a:t>[0]) # Imprime: Lápiz</a:t>
            </a:r>
          </a:p>
          <a:p>
            <a:endParaRPr lang="es-CL" dirty="0"/>
          </a:p>
          <a:p>
            <a:r>
              <a:rPr lang="es-CL" dirty="0"/>
              <a:t># Operación 2: Modificar</a:t>
            </a:r>
          </a:p>
          <a:p>
            <a:r>
              <a:rPr lang="es-CL" dirty="0" err="1"/>
              <a:t>utiles</a:t>
            </a:r>
            <a:r>
              <a:rPr lang="es-CL" dirty="0"/>
              <a:t>[1] = "Regla" # Cambiamos Cuaderno por Regla</a:t>
            </a:r>
          </a:p>
          <a:p>
            <a:endParaRPr lang="es-CL" dirty="0"/>
          </a:p>
          <a:p>
            <a:r>
              <a:rPr lang="es-CL" dirty="0"/>
              <a:t># Operación 3: Agregar</a:t>
            </a:r>
          </a:p>
          <a:p>
            <a:r>
              <a:rPr lang="es-CL" dirty="0" err="1"/>
              <a:t>utiles.append</a:t>
            </a:r>
            <a:r>
              <a:rPr lang="es-CL" dirty="0"/>
              <a:t>("Corrector")</a:t>
            </a:r>
          </a:p>
        </p:txBody>
      </p:sp>
    </p:spTree>
    <p:extLst>
      <p:ext uri="{BB962C8B-B14F-4D97-AF65-F5344CB8AC3E}">
        <p14:creationId xmlns:p14="http://schemas.microsoft.com/office/powerpoint/2010/main" val="2097772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8C1F69-F9D4-AAC9-7B85-F232A60B1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3464" y="269441"/>
            <a:ext cx="7958331" cy="1077229"/>
          </a:xfrm>
        </p:spPr>
        <p:txBody>
          <a:bodyPr/>
          <a:lstStyle/>
          <a:p>
            <a:pPr algn="ctr"/>
            <a:r>
              <a:rPr lang="es-CL" dirty="0"/>
              <a:t>Las Tuplas () (El cofre bajo llave)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814CC4-861F-7249-0350-3317CCB03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9754" y="978227"/>
            <a:ext cx="9845749" cy="2785698"/>
          </a:xfrm>
        </p:spPr>
        <p:txBody>
          <a:bodyPr>
            <a:normAutofit/>
          </a:bodyPr>
          <a:lstStyle/>
          <a:p>
            <a:r>
              <a:rPr lang="es-CL" sz="1800" dirty="0"/>
              <a:t>Las tuplas son para datos que </a:t>
            </a:r>
            <a:r>
              <a:rPr lang="es-CL" sz="1800" b="1" dirty="0"/>
              <a:t>no deben cambiar nunca</a:t>
            </a:r>
            <a:r>
              <a:rPr lang="es-CL" sz="1800" dirty="0"/>
              <a:t>. Una vez que cierras el paréntesis, el contenido queda "congelado".</a:t>
            </a:r>
          </a:p>
          <a:p>
            <a:r>
              <a:rPr lang="es-CL" sz="1800" b="1" dirty="0"/>
              <a:t>Concepto Clave:</a:t>
            </a:r>
            <a:r>
              <a:rPr lang="es-CL" sz="1800" dirty="0"/>
              <a:t> Son </a:t>
            </a:r>
            <a:r>
              <a:rPr lang="es-CL" sz="1800" b="1" dirty="0"/>
              <a:t>Inmutables</a:t>
            </a:r>
            <a:r>
              <a:rPr lang="es-CL" sz="1800" dirty="0"/>
              <a:t>.</a:t>
            </a:r>
          </a:p>
          <a:p>
            <a:r>
              <a:rPr lang="es-CL" sz="1800" b="1" dirty="0"/>
              <a:t>¿Por qué usarlas?</a:t>
            </a:r>
            <a:r>
              <a:rPr lang="es-CL" sz="1800" dirty="0"/>
              <a:t> Son más rápidas para la computadora y evitan que por error borres un dato importante (como las coordenadas de una ciudad o los meses del año).</a:t>
            </a:r>
          </a:p>
          <a:p>
            <a:endParaRPr lang="es-CL" sz="18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3650100-8987-4F3B-4786-312641AB068A}"/>
              </a:ext>
            </a:extLst>
          </p:cNvPr>
          <p:cNvSpPr txBox="1"/>
          <p:nvPr/>
        </p:nvSpPr>
        <p:spPr>
          <a:xfrm>
            <a:off x="3047114" y="3763925"/>
            <a:ext cx="60977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# Datos que no cambian</a:t>
            </a:r>
          </a:p>
          <a:p>
            <a:r>
              <a:rPr lang="es-CL" dirty="0" err="1"/>
              <a:t>coordenadas_iquique</a:t>
            </a:r>
            <a:r>
              <a:rPr lang="es-CL" dirty="0"/>
              <a:t> = (-20.21, -70.14)</a:t>
            </a:r>
          </a:p>
          <a:p>
            <a:r>
              <a:rPr lang="es-CL" dirty="0"/>
              <a:t>meses = ("Enero", "Febrero", "Marzo")</a:t>
            </a:r>
          </a:p>
        </p:txBody>
      </p:sp>
    </p:spTree>
    <p:extLst>
      <p:ext uri="{BB962C8B-B14F-4D97-AF65-F5344CB8AC3E}">
        <p14:creationId xmlns:p14="http://schemas.microsoft.com/office/powerpoint/2010/main" val="1522785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69CBFA-C9E6-CA30-9337-D0AF18B51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808" y="269441"/>
            <a:ext cx="7958331" cy="1077229"/>
          </a:xfrm>
        </p:spPr>
        <p:txBody>
          <a:bodyPr/>
          <a:lstStyle/>
          <a:p>
            <a:r>
              <a:rPr lang="es-CL" dirty="0"/>
              <a:t>Los Diccionarios {} (La Agenda Maestra)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ED95A2D-049F-95C6-599B-3FF3EA4683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9582" y="1201511"/>
            <a:ext cx="10037134" cy="1520424"/>
          </a:xfrm>
        </p:spPr>
        <p:txBody>
          <a:bodyPr>
            <a:normAutofit lnSpcReduction="10000"/>
          </a:bodyPr>
          <a:lstStyle/>
          <a:p>
            <a:r>
              <a:rPr lang="es-CL" sz="1800" dirty="0"/>
              <a:t>Aquí no buscamos por posición (0, 1, 2), sino por </a:t>
            </a:r>
            <a:r>
              <a:rPr lang="es-CL" sz="1800" b="1" dirty="0"/>
              <a:t>Nombre (Clave)</a:t>
            </a:r>
            <a:r>
              <a:rPr lang="es-CL" sz="1800" dirty="0"/>
              <a:t>. </a:t>
            </a:r>
          </a:p>
          <a:p>
            <a:r>
              <a:rPr lang="es-CL" sz="1800" dirty="0"/>
              <a:t>Es como un contacto en tu celular: buscas el nombre y obtienes el número.</a:t>
            </a:r>
          </a:p>
          <a:p>
            <a:r>
              <a:rPr lang="es-CL" sz="1800" b="1" dirty="0"/>
              <a:t>Estructura:</a:t>
            </a:r>
            <a:r>
              <a:rPr lang="es-CL" sz="1800" dirty="0"/>
              <a:t> clave : valor</a:t>
            </a:r>
          </a:p>
          <a:p>
            <a:endParaRPr lang="es-CL" sz="18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7F0F0CF-4AB5-5884-9B55-7D1C67B10992}"/>
              </a:ext>
            </a:extLst>
          </p:cNvPr>
          <p:cNvSpPr txBox="1"/>
          <p:nvPr/>
        </p:nvSpPr>
        <p:spPr>
          <a:xfrm>
            <a:off x="1751714" y="2615080"/>
            <a:ext cx="609777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# Ficha de un alumno</a:t>
            </a:r>
          </a:p>
          <a:p>
            <a:r>
              <a:rPr lang="es-CL" dirty="0"/>
              <a:t>alumno = {</a:t>
            </a:r>
          </a:p>
          <a:p>
            <a:r>
              <a:rPr lang="es-CL" dirty="0"/>
              <a:t>    "nombre": "Juan",</a:t>
            </a:r>
          </a:p>
          <a:p>
            <a:r>
              <a:rPr lang="es-CL" dirty="0"/>
              <a:t>    "carrera": "Ingeniería",</a:t>
            </a:r>
          </a:p>
          <a:p>
            <a:r>
              <a:rPr lang="es-CL" dirty="0"/>
              <a:t>    "año": 1</a:t>
            </a:r>
          </a:p>
          <a:p>
            <a:r>
              <a:rPr lang="es-CL" dirty="0"/>
              <a:t>}</a:t>
            </a:r>
          </a:p>
          <a:p>
            <a:endParaRPr lang="es-CL" dirty="0"/>
          </a:p>
          <a:p>
            <a:r>
              <a:rPr lang="es-CL" dirty="0" err="1"/>
              <a:t>print</a:t>
            </a:r>
            <a:r>
              <a:rPr lang="es-CL" dirty="0"/>
              <a:t>(alumno["carrera"]) # Imprime: Ingeniería</a:t>
            </a:r>
          </a:p>
        </p:txBody>
      </p:sp>
    </p:spTree>
    <p:extLst>
      <p:ext uri="{BB962C8B-B14F-4D97-AF65-F5344CB8AC3E}">
        <p14:creationId xmlns:p14="http://schemas.microsoft.com/office/powerpoint/2010/main" val="3126568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92806DFD-E192-42CC-B190-3C4C95B8FF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33" y="-1"/>
            <a:ext cx="12189867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0214283E-D7B4-49E9-932E-D7F2A284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BB17FFD2-DBC7-4ABB-B2A0-7E18EC1B80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5DA2D5B-EC4E-4C78-8139-F36D2F2D1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5262" y="-2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D4AAACE2-9C9E-468F-8297-EF7B5E55FF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47567" y="421698"/>
            <a:ext cx="967148" cy="967148"/>
          </a:xfrm>
          <a:prstGeom prst="ellipse">
            <a:avLst/>
          </a:prstGeom>
          <a:gradFill>
            <a:gsLst>
              <a:gs pos="0">
                <a:schemeClr val="bg2">
                  <a:alpha val="0"/>
                </a:schemeClr>
              </a:gs>
              <a:gs pos="100000">
                <a:schemeClr val="accent1">
                  <a:alpha val="21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A6ECEB16-346D-75BC-5E5B-5EE6475AB136}"/>
              </a:ext>
            </a:extLst>
          </p:cNvPr>
          <p:cNvSpPr txBox="1">
            <a:spLocks/>
          </p:cNvSpPr>
          <p:nvPr/>
        </p:nvSpPr>
        <p:spPr>
          <a:xfrm>
            <a:off x="1139241" y="234779"/>
            <a:ext cx="10902366" cy="6623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4488" indent="-344488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95338" indent="-33813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58888" indent="-34448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709738" indent="-33813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173288" indent="-34448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642616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3108960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575304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4041648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1400" b="1" dirty="0"/>
              <a:t>1. .append(</a:t>
            </a:r>
            <a:r>
              <a:rPr lang="en-US" sz="1400" b="1" dirty="0" err="1"/>
              <a:t>elemento</a:t>
            </a:r>
            <a:r>
              <a:rPr lang="en-US" sz="1400" b="1" dirty="0"/>
              <a:t>) - </a:t>
            </a:r>
            <a:r>
              <a:rPr lang="en-US" sz="1400" b="1" dirty="0" err="1"/>
              <a:t>Agregar</a:t>
            </a:r>
            <a:r>
              <a:rPr lang="en-US" sz="1400" b="1" dirty="0"/>
              <a:t> al Final</a:t>
            </a:r>
          </a:p>
          <a:p>
            <a:pPr>
              <a:lnSpc>
                <a:spcPct val="110000"/>
              </a:lnSpc>
            </a:pPr>
            <a:r>
              <a:rPr lang="en-US" sz="1400" dirty="0"/>
              <a:t>Es la </a:t>
            </a:r>
            <a:r>
              <a:rPr lang="en-US" sz="1400" dirty="0" err="1"/>
              <a:t>más</a:t>
            </a:r>
            <a:r>
              <a:rPr lang="en-US" sz="1400" dirty="0"/>
              <a:t> </a:t>
            </a:r>
            <a:r>
              <a:rPr lang="en-US" sz="1400" dirty="0" err="1"/>
              <a:t>común</a:t>
            </a:r>
            <a:r>
              <a:rPr lang="en-US" sz="1400" dirty="0"/>
              <a:t>. Imagina </a:t>
            </a:r>
            <a:r>
              <a:rPr lang="en-US" sz="1400" dirty="0" err="1"/>
              <a:t>que</a:t>
            </a:r>
            <a:r>
              <a:rPr lang="en-US" sz="1400" dirty="0"/>
              <a:t> </a:t>
            </a:r>
            <a:r>
              <a:rPr lang="en-US" sz="1400" dirty="0" err="1"/>
              <a:t>llega</a:t>
            </a:r>
            <a:r>
              <a:rPr lang="en-US" sz="1400" dirty="0"/>
              <a:t> un </a:t>
            </a:r>
            <a:r>
              <a:rPr lang="en-US" sz="1400" dirty="0" err="1"/>
              <a:t>alumno</a:t>
            </a:r>
            <a:r>
              <a:rPr lang="en-US" sz="1400" dirty="0"/>
              <a:t> nuevo a la sala y se </a:t>
            </a:r>
            <a:r>
              <a:rPr lang="en-US" sz="1400" dirty="0" err="1"/>
              <a:t>sienta</a:t>
            </a:r>
            <a:r>
              <a:rPr lang="en-US" sz="1400" dirty="0"/>
              <a:t> al </a:t>
            </a:r>
            <a:r>
              <a:rPr lang="en-US" sz="1400" dirty="0" err="1"/>
              <a:t>último</a:t>
            </a:r>
            <a:r>
              <a:rPr lang="en-US" sz="1400" dirty="0"/>
              <a:t>.</a:t>
            </a:r>
          </a:p>
          <a:p>
            <a:pPr>
              <a:lnSpc>
                <a:spcPct val="110000"/>
              </a:lnSpc>
            </a:pPr>
            <a:r>
              <a:rPr lang="en-US" sz="1400" b="1" dirty="0"/>
              <a:t>Uso:</a:t>
            </a:r>
            <a:r>
              <a:rPr lang="en-US" sz="1400" dirty="0"/>
              <a:t> </a:t>
            </a:r>
            <a:r>
              <a:rPr lang="en-US" sz="1400" dirty="0" err="1"/>
              <a:t>lista.append</a:t>
            </a:r>
            <a:r>
              <a:rPr lang="en-US" sz="1400" dirty="0"/>
              <a:t>("Nuevo")</a:t>
            </a:r>
          </a:p>
          <a:p>
            <a:pPr>
              <a:lnSpc>
                <a:spcPct val="110000"/>
              </a:lnSpc>
            </a:pPr>
            <a:r>
              <a:rPr lang="en-US" sz="1400" b="1" dirty="0"/>
              <a:t>2. .insert(</a:t>
            </a:r>
            <a:r>
              <a:rPr lang="en-US" sz="1400" b="1" dirty="0" err="1"/>
              <a:t>indice</a:t>
            </a:r>
            <a:r>
              <a:rPr lang="en-US" sz="1400" b="1" dirty="0"/>
              <a:t>, </a:t>
            </a:r>
            <a:r>
              <a:rPr lang="en-US" sz="1400" b="1" dirty="0" err="1"/>
              <a:t>elemento</a:t>
            </a:r>
            <a:r>
              <a:rPr lang="en-US" sz="1400" b="1" dirty="0"/>
              <a:t>) - </a:t>
            </a:r>
            <a:r>
              <a:rPr lang="en-US" sz="1400" b="1" dirty="0" err="1"/>
              <a:t>Agregar</a:t>
            </a:r>
            <a:r>
              <a:rPr lang="en-US" sz="1400" b="1" dirty="0"/>
              <a:t> </a:t>
            </a:r>
            <a:r>
              <a:rPr lang="en-US" sz="1400" b="1" dirty="0" err="1"/>
              <a:t>en</a:t>
            </a:r>
            <a:r>
              <a:rPr lang="en-US" sz="1400" b="1" dirty="0"/>
              <a:t> </a:t>
            </a:r>
            <a:r>
              <a:rPr lang="en-US" sz="1400" b="1" dirty="0" err="1"/>
              <a:t>una</a:t>
            </a:r>
            <a:r>
              <a:rPr lang="en-US" sz="1400" b="1" dirty="0"/>
              <a:t> </a:t>
            </a:r>
            <a:r>
              <a:rPr lang="en-US" sz="1400" b="1" dirty="0" err="1"/>
              <a:t>Posición</a:t>
            </a:r>
            <a:endParaRPr lang="en-US" sz="1400" b="1" dirty="0"/>
          </a:p>
          <a:p>
            <a:pPr>
              <a:lnSpc>
                <a:spcPct val="110000"/>
              </a:lnSpc>
            </a:pPr>
            <a:r>
              <a:rPr lang="en-US" sz="1400" dirty="0"/>
              <a:t>A </a:t>
            </a:r>
            <a:r>
              <a:rPr lang="en-US" sz="1400" dirty="0" err="1"/>
              <a:t>diferencia</a:t>
            </a:r>
            <a:r>
              <a:rPr lang="en-US" sz="1400" dirty="0"/>
              <a:t> de append, </a:t>
            </a:r>
            <a:r>
              <a:rPr lang="en-US" sz="1400" dirty="0" err="1"/>
              <a:t>esta</a:t>
            </a:r>
            <a:r>
              <a:rPr lang="en-US" sz="1400" dirty="0"/>
              <a:t> </a:t>
            </a:r>
            <a:r>
              <a:rPr lang="en-US" sz="1400" dirty="0" err="1"/>
              <a:t>permite</a:t>
            </a:r>
            <a:r>
              <a:rPr lang="en-US" sz="1400" dirty="0"/>
              <a:t> </a:t>
            </a:r>
            <a:r>
              <a:rPr lang="en-US" sz="1400" dirty="0" err="1"/>
              <a:t>elegir</a:t>
            </a:r>
            <a:r>
              <a:rPr lang="en-US" sz="1400" dirty="0"/>
              <a:t> </a:t>
            </a:r>
            <a:r>
              <a:rPr lang="en-US" sz="1400" dirty="0" err="1"/>
              <a:t>dónde</a:t>
            </a:r>
            <a:r>
              <a:rPr lang="en-US" sz="1400" dirty="0"/>
              <a:t> </a:t>
            </a:r>
            <a:r>
              <a:rPr lang="en-US" sz="1400" dirty="0" err="1"/>
              <a:t>poner</a:t>
            </a:r>
            <a:r>
              <a:rPr lang="en-US" sz="1400" dirty="0"/>
              <a:t> </a:t>
            </a:r>
            <a:r>
              <a:rPr lang="en-US" sz="1400" dirty="0" err="1"/>
              <a:t>el</a:t>
            </a:r>
            <a:r>
              <a:rPr lang="en-US" sz="1400" dirty="0"/>
              <a:t> </a:t>
            </a:r>
            <a:r>
              <a:rPr lang="en-US" sz="1400" dirty="0" err="1"/>
              <a:t>dato</a:t>
            </a:r>
            <a:r>
              <a:rPr lang="en-US" sz="1400" dirty="0"/>
              <a:t>. Los </a:t>
            </a:r>
            <a:r>
              <a:rPr lang="en-US" sz="1400" dirty="0" err="1"/>
              <a:t>demás</a:t>
            </a:r>
            <a:r>
              <a:rPr lang="en-US" sz="1400" dirty="0"/>
              <a:t> </a:t>
            </a:r>
            <a:r>
              <a:rPr lang="en-US" sz="1400" dirty="0" err="1"/>
              <a:t>elementos</a:t>
            </a:r>
            <a:r>
              <a:rPr lang="en-US" sz="1400" dirty="0"/>
              <a:t> se </a:t>
            </a:r>
            <a:r>
              <a:rPr lang="en-US" sz="1400" dirty="0" err="1"/>
              <a:t>mueven</a:t>
            </a:r>
            <a:r>
              <a:rPr lang="en-US" sz="1400" dirty="0"/>
              <a:t> a la </a:t>
            </a:r>
            <a:r>
              <a:rPr lang="en-US" sz="1400" dirty="0" err="1"/>
              <a:t>derecha</a:t>
            </a:r>
            <a:r>
              <a:rPr lang="en-US" sz="1400" dirty="0"/>
              <a:t>.</a:t>
            </a:r>
          </a:p>
          <a:p>
            <a:pPr>
              <a:lnSpc>
                <a:spcPct val="110000"/>
              </a:lnSpc>
            </a:pPr>
            <a:r>
              <a:rPr lang="en-US" sz="1400" b="1" dirty="0" err="1"/>
              <a:t>Ejemplo</a:t>
            </a:r>
            <a:r>
              <a:rPr lang="en-US" sz="1400" b="1" dirty="0"/>
              <a:t>:</a:t>
            </a:r>
            <a:r>
              <a:rPr lang="en-US" sz="1400" dirty="0"/>
              <a:t> </a:t>
            </a:r>
            <a:r>
              <a:rPr lang="en-US" sz="1400" dirty="0" err="1"/>
              <a:t>lista.insert</a:t>
            </a:r>
            <a:r>
              <a:rPr lang="en-US" sz="1400" dirty="0"/>
              <a:t>(0, "Primero") (Lo pone al </a:t>
            </a:r>
            <a:r>
              <a:rPr lang="en-US" sz="1400" dirty="0" err="1"/>
              <a:t>inicio</a:t>
            </a:r>
            <a:r>
              <a:rPr lang="en-US" sz="1400" dirty="0"/>
              <a:t>).</a:t>
            </a:r>
          </a:p>
          <a:p>
            <a:pPr>
              <a:lnSpc>
                <a:spcPct val="110000"/>
              </a:lnSpc>
            </a:pPr>
            <a:r>
              <a:rPr lang="en-US" sz="1400" b="1" dirty="0"/>
              <a:t>3. .pop(</a:t>
            </a:r>
            <a:r>
              <a:rPr lang="en-US" sz="1400" b="1" dirty="0" err="1"/>
              <a:t>indice</a:t>
            </a:r>
            <a:r>
              <a:rPr lang="en-US" sz="1400" b="1" dirty="0"/>
              <a:t>) - </a:t>
            </a:r>
            <a:r>
              <a:rPr lang="en-US" sz="1400" b="1" dirty="0" err="1"/>
              <a:t>Eliminar</a:t>
            </a:r>
            <a:r>
              <a:rPr lang="en-US" sz="1400" b="1" dirty="0"/>
              <a:t> y </a:t>
            </a:r>
            <a:r>
              <a:rPr lang="en-US" sz="1400" b="1" dirty="0" err="1"/>
              <a:t>Retornar</a:t>
            </a:r>
            <a:endParaRPr lang="en-US" sz="1400" b="1" dirty="0"/>
          </a:p>
          <a:p>
            <a:pPr>
              <a:lnSpc>
                <a:spcPct val="110000"/>
              </a:lnSpc>
            </a:pPr>
            <a:r>
              <a:rPr lang="en-US" sz="1400" dirty="0"/>
              <a:t>Saca un </a:t>
            </a:r>
            <a:r>
              <a:rPr lang="en-US" sz="1400" dirty="0" err="1"/>
              <a:t>elemento</a:t>
            </a:r>
            <a:r>
              <a:rPr lang="en-US" sz="1400" dirty="0"/>
              <a:t> de la </a:t>
            </a:r>
            <a:r>
              <a:rPr lang="en-US" sz="1400" dirty="0" err="1"/>
              <a:t>lista</a:t>
            </a:r>
            <a:r>
              <a:rPr lang="en-US" sz="1400" dirty="0"/>
              <a:t>. Si no le das un </a:t>
            </a:r>
            <a:r>
              <a:rPr lang="en-US" sz="1400" dirty="0" err="1"/>
              <a:t>índice</a:t>
            </a:r>
            <a:r>
              <a:rPr lang="en-US" sz="1400" dirty="0"/>
              <a:t>, </a:t>
            </a:r>
            <a:r>
              <a:rPr lang="en-US" sz="1400" dirty="0" err="1"/>
              <a:t>saca</a:t>
            </a:r>
            <a:r>
              <a:rPr lang="en-US" sz="1400" dirty="0"/>
              <a:t> </a:t>
            </a:r>
            <a:r>
              <a:rPr lang="en-US" sz="1400" dirty="0" err="1"/>
              <a:t>el</a:t>
            </a:r>
            <a:r>
              <a:rPr lang="en-US" sz="1400" dirty="0"/>
              <a:t> </a:t>
            </a:r>
            <a:r>
              <a:rPr lang="en-US" sz="1400" b="1" dirty="0" err="1"/>
              <a:t>último</a:t>
            </a:r>
            <a:r>
              <a:rPr lang="en-US" sz="1400" dirty="0"/>
              <a:t>. Es </a:t>
            </a:r>
            <a:r>
              <a:rPr lang="en-US" sz="1400" dirty="0" err="1"/>
              <a:t>como</a:t>
            </a:r>
            <a:r>
              <a:rPr lang="en-US" sz="1400" dirty="0"/>
              <a:t> </a:t>
            </a:r>
            <a:r>
              <a:rPr lang="en-US" sz="1400" dirty="0" err="1"/>
              <a:t>cuando</a:t>
            </a:r>
            <a:r>
              <a:rPr lang="en-US" sz="1400" dirty="0"/>
              <a:t> </a:t>
            </a:r>
            <a:r>
              <a:rPr lang="en-US" sz="1400" dirty="0" err="1"/>
              <a:t>el</a:t>
            </a:r>
            <a:r>
              <a:rPr lang="en-US" sz="1400" dirty="0"/>
              <a:t> </a:t>
            </a:r>
            <a:r>
              <a:rPr lang="en-US" sz="1400" dirty="0" err="1"/>
              <a:t>último</a:t>
            </a:r>
            <a:r>
              <a:rPr lang="en-US" sz="1400" dirty="0"/>
              <a:t> </a:t>
            </a:r>
            <a:r>
              <a:rPr lang="en-US" sz="1400" dirty="0" err="1"/>
              <a:t>en</a:t>
            </a:r>
            <a:r>
              <a:rPr lang="en-US" sz="1400" dirty="0"/>
              <a:t> la fila se </a:t>
            </a:r>
            <a:r>
              <a:rPr lang="en-US" sz="1400" dirty="0" err="1"/>
              <a:t>va.</a:t>
            </a:r>
            <a:endParaRPr lang="en-US" sz="1400" dirty="0"/>
          </a:p>
          <a:p>
            <a:pPr>
              <a:lnSpc>
                <a:spcPct val="110000"/>
              </a:lnSpc>
            </a:pPr>
            <a:r>
              <a:rPr lang="en-US" sz="1400" b="1" dirty="0"/>
              <a:t>Uso:</a:t>
            </a:r>
            <a:r>
              <a:rPr lang="en-US" sz="1400" dirty="0"/>
              <a:t> </a:t>
            </a:r>
            <a:r>
              <a:rPr lang="en-US" sz="1400" dirty="0" err="1"/>
              <a:t>eliminado</a:t>
            </a:r>
            <a:r>
              <a:rPr lang="en-US" sz="1400" dirty="0"/>
              <a:t> = </a:t>
            </a:r>
            <a:r>
              <a:rPr lang="en-US" sz="1400" dirty="0" err="1"/>
              <a:t>lista.pop</a:t>
            </a:r>
            <a:r>
              <a:rPr lang="en-US" sz="1400" dirty="0"/>
              <a:t>()</a:t>
            </a:r>
          </a:p>
          <a:p>
            <a:pPr>
              <a:lnSpc>
                <a:spcPct val="110000"/>
              </a:lnSpc>
            </a:pPr>
            <a:r>
              <a:rPr lang="en-US" sz="1400" b="1" dirty="0"/>
              <a:t>4. .remove(valor) - </a:t>
            </a:r>
            <a:r>
              <a:rPr lang="en-US" sz="1400" b="1" dirty="0" err="1"/>
              <a:t>Eliminar</a:t>
            </a:r>
            <a:r>
              <a:rPr lang="en-US" sz="1400" b="1" dirty="0"/>
              <a:t> </a:t>
            </a:r>
            <a:r>
              <a:rPr lang="en-US" sz="1400" b="1" dirty="0" err="1"/>
              <a:t>por</a:t>
            </a:r>
            <a:r>
              <a:rPr lang="en-US" sz="1400" b="1" dirty="0"/>
              <a:t> Nombre</a:t>
            </a:r>
          </a:p>
          <a:p>
            <a:pPr>
              <a:lnSpc>
                <a:spcPct val="110000"/>
              </a:lnSpc>
            </a:pPr>
            <a:r>
              <a:rPr lang="en-US" sz="1400" dirty="0"/>
              <a:t>Si no sabes la </a:t>
            </a:r>
            <a:r>
              <a:rPr lang="en-US" sz="1400" dirty="0" err="1"/>
              <a:t>posición</a:t>
            </a:r>
            <a:r>
              <a:rPr lang="en-US" sz="1400" dirty="0"/>
              <a:t> </a:t>
            </a:r>
            <a:r>
              <a:rPr lang="en-US" sz="1400" dirty="0" err="1"/>
              <a:t>pero</a:t>
            </a:r>
            <a:r>
              <a:rPr lang="en-US" sz="1400" dirty="0"/>
              <a:t> sabes </a:t>
            </a:r>
            <a:r>
              <a:rPr lang="en-US" sz="1400" dirty="0" err="1"/>
              <a:t>qué</a:t>
            </a:r>
            <a:r>
              <a:rPr lang="en-US" sz="1400" dirty="0"/>
              <a:t> </a:t>
            </a:r>
            <a:r>
              <a:rPr lang="en-US" sz="1400" dirty="0" err="1"/>
              <a:t>quieres</a:t>
            </a:r>
            <a:r>
              <a:rPr lang="en-US" sz="1400" dirty="0"/>
              <a:t> </a:t>
            </a:r>
            <a:r>
              <a:rPr lang="en-US" sz="1400" dirty="0" err="1"/>
              <a:t>borrar</a:t>
            </a:r>
            <a:r>
              <a:rPr lang="en-US" sz="1400" dirty="0"/>
              <a:t> (</a:t>
            </a:r>
            <a:r>
              <a:rPr lang="en-US" sz="1400" dirty="0" err="1"/>
              <a:t>ej</a:t>
            </a:r>
            <a:r>
              <a:rPr lang="en-US" sz="1400" dirty="0"/>
              <a:t>: "</a:t>
            </a:r>
            <a:r>
              <a:rPr lang="en-US" sz="1400" dirty="0" err="1"/>
              <a:t>Borrar</a:t>
            </a:r>
            <a:r>
              <a:rPr lang="en-US" sz="1400" dirty="0"/>
              <a:t> a Juan"), </a:t>
            </a:r>
            <a:r>
              <a:rPr lang="en-US" sz="1400" dirty="0" err="1"/>
              <a:t>usas</a:t>
            </a:r>
            <a:r>
              <a:rPr lang="en-US" sz="1400" dirty="0"/>
              <a:t> remove.</a:t>
            </a:r>
          </a:p>
          <a:p>
            <a:pPr>
              <a:lnSpc>
                <a:spcPct val="110000"/>
              </a:lnSpc>
            </a:pPr>
            <a:r>
              <a:rPr lang="en-US" sz="1400" b="1" dirty="0"/>
              <a:t>Uso:</a:t>
            </a:r>
            <a:r>
              <a:rPr lang="en-US" sz="1400" dirty="0"/>
              <a:t> </a:t>
            </a:r>
            <a:r>
              <a:rPr lang="en-US" sz="1400" dirty="0" err="1"/>
              <a:t>lista.remove</a:t>
            </a:r>
            <a:r>
              <a:rPr lang="en-US" sz="1400" dirty="0"/>
              <a:t>("Juan")</a:t>
            </a:r>
          </a:p>
          <a:p>
            <a:pPr>
              <a:lnSpc>
                <a:spcPct val="110000"/>
              </a:lnSpc>
            </a:pPr>
            <a:r>
              <a:rPr lang="en-US" sz="1400" b="1" dirty="0"/>
              <a:t>5. .sort() - </a:t>
            </a:r>
            <a:r>
              <a:rPr lang="en-US" sz="1400" b="1" dirty="0" err="1"/>
              <a:t>Ordenar</a:t>
            </a:r>
            <a:endParaRPr lang="en-US" sz="1400" b="1" dirty="0"/>
          </a:p>
          <a:p>
            <a:pPr>
              <a:lnSpc>
                <a:spcPct val="110000"/>
              </a:lnSpc>
            </a:pPr>
            <a:r>
              <a:rPr lang="en-US" sz="1400" dirty="0"/>
              <a:t>Ordena la </a:t>
            </a:r>
            <a:r>
              <a:rPr lang="en-US" sz="1400" dirty="0" err="1"/>
              <a:t>lista</a:t>
            </a:r>
            <a:r>
              <a:rPr lang="en-US" sz="1400" dirty="0"/>
              <a:t> de </a:t>
            </a:r>
            <a:r>
              <a:rPr lang="en-US" sz="1400" dirty="0" err="1"/>
              <a:t>menor</a:t>
            </a:r>
            <a:r>
              <a:rPr lang="en-US" sz="1400" dirty="0"/>
              <a:t> a mayor (</a:t>
            </a:r>
            <a:r>
              <a:rPr lang="en-US" sz="1400" dirty="0" err="1"/>
              <a:t>números</a:t>
            </a:r>
            <a:r>
              <a:rPr lang="en-US" sz="1400" dirty="0"/>
              <a:t>) o </a:t>
            </a:r>
            <a:r>
              <a:rPr lang="en-US" sz="1400" dirty="0" err="1"/>
              <a:t>por</a:t>
            </a:r>
            <a:r>
              <a:rPr lang="en-US" sz="1400" dirty="0"/>
              <a:t> </a:t>
            </a:r>
            <a:r>
              <a:rPr lang="en-US" sz="1400" dirty="0" err="1"/>
              <a:t>orden</a:t>
            </a:r>
            <a:r>
              <a:rPr lang="en-US" sz="1400" dirty="0"/>
              <a:t> </a:t>
            </a:r>
            <a:r>
              <a:rPr lang="en-US" sz="1400" dirty="0" err="1"/>
              <a:t>alfabético</a:t>
            </a:r>
            <a:r>
              <a:rPr lang="en-US" sz="1400" dirty="0"/>
              <a:t> (</a:t>
            </a:r>
            <a:r>
              <a:rPr lang="en-US" sz="1400" dirty="0" err="1"/>
              <a:t>letras</a:t>
            </a:r>
            <a:r>
              <a:rPr lang="en-US" sz="1400" dirty="0"/>
              <a:t>).</a:t>
            </a:r>
          </a:p>
          <a:p>
            <a:pPr>
              <a:lnSpc>
                <a:spcPct val="110000"/>
              </a:lnSpc>
            </a:pPr>
            <a:r>
              <a:rPr lang="en-US" sz="1400" b="1" dirty="0"/>
              <a:t>Uso:</a:t>
            </a:r>
            <a:r>
              <a:rPr lang="en-US" sz="1400" dirty="0"/>
              <a:t> </a:t>
            </a:r>
            <a:r>
              <a:rPr lang="en-US" sz="1400" dirty="0" err="1"/>
              <a:t>lista.sort</a:t>
            </a:r>
            <a:r>
              <a:rPr lang="en-US" sz="1400" dirty="0"/>
              <a:t>()</a:t>
            </a:r>
          </a:p>
          <a:p>
            <a:pPr>
              <a:lnSpc>
                <a:spcPct val="110000"/>
              </a:lnSpc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080982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9C97FB-B411-2A6E-8AFD-27F7A5F8A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3599" y="1297205"/>
            <a:ext cx="7796540" cy="3997828"/>
          </a:xfrm>
        </p:spPr>
        <p:txBody>
          <a:bodyPr/>
          <a:lstStyle/>
          <a:p>
            <a:r>
              <a:rPr lang="es-CL" b="1" dirty="0"/>
              <a:t>Herramientas de Consulta (Para todas)</a:t>
            </a:r>
          </a:p>
          <a:p>
            <a:r>
              <a:rPr lang="es-CL" dirty="0"/>
              <a:t>Además de </a:t>
            </a:r>
            <a:r>
              <a:rPr lang="es-CL" dirty="0" err="1"/>
              <a:t>len</a:t>
            </a:r>
            <a:r>
              <a:rPr lang="es-CL" dirty="0"/>
              <a:t>(), hay otras funciones muy útiles que ahorran mucho código:</a:t>
            </a:r>
          </a:p>
          <a:p>
            <a:r>
              <a:rPr lang="es-CL" b="1" dirty="0"/>
              <a:t>sum(lista)</a:t>
            </a:r>
            <a:r>
              <a:rPr lang="es-CL" dirty="0"/>
              <a:t>: Suma todos los números de una lista automáticamente.</a:t>
            </a:r>
          </a:p>
          <a:p>
            <a:r>
              <a:rPr lang="es-CL" b="1" dirty="0" err="1"/>
              <a:t>max</a:t>
            </a:r>
            <a:r>
              <a:rPr lang="es-CL" b="1" dirty="0"/>
              <a:t>(lista)</a:t>
            </a:r>
            <a:r>
              <a:rPr lang="es-CL" dirty="0"/>
              <a:t>: Te entrega el número más grande.</a:t>
            </a:r>
          </a:p>
          <a:p>
            <a:r>
              <a:rPr lang="es-CL" b="1" dirty="0"/>
              <a:t>min(lista)</a:t>
            </a:r>
            <a:r>
              <a:rPr lang="es-CL" dirty="0"/>
              <a:t>: Te entrega el número más pequeño.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175100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F50629-0353-C3AF-4360-2643D2F0A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L" dirty="0"/>
              <a:t>Ejemplo Ejercicio (Resuelto):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2983DAC-0621-C154-1561-221CB88A9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7172" y="1513501"/>
            <a:ext cx="9856382" cy="1077229"/>
          </a:xfrm>
        </p:spPr>
        <p:txBody>
          <a:bodyPr/>
          <a:lstStyle/>
          <a:p>
            <a:r>
              <a:rPr lang="es-CL" b="1" dirty="0"/>
              <a:t>Problema:</a:t>
            </a:r>
            <a:r>
              <a:rPr lang="es-CL" dirty="0"/>
              <a:t> "Tenemos una lista de precios. Debemos agregar un precio nuevo, ordenarlos de menor a mayor y mostrar el total de la compra".</a:t>
            </a:r>
          </a:p>
          <a:p>
            <a:endParaRPr lang="es-CL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0BB72DB-AA1A-1269-8A75-432E32A09B4C}"/>
              </a:ext>
            </a:extLst>
          </p:cNvPr>
          <p:cNvSpPr txBox="1"/>
          <p:nvPr/>
        </p:nvSpPr>
        <p:spPr>
          <a:xfrm>
            <a:off x="2772439" y="2464566"/>
            <a:ext cx="609777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precios = [5000, 1200, 3500]</a:t>
            </a:r>
          </a:p>
          <a:p>
            <a:endParaRPr lang="es-CL" dirty="0"/>
          </a:p>
          <a:p>
            <a:r>
              <a:rPr lang="es-CL" dirty="0"/>
              <a:t># 1. Agregamos un nuevo precio</a:t>
            </a:r>
          </a:p>
          <a:p>
            <a:r>
              <a:rPr lang="es-CL" dirty="0" err="1"/>
              <a:t>precios.append</a:t>
            </a:r>
            <a:r>
              <a:rPr lang="es-CL" dirty="0"/>
              <a:t>(2000)</a:t>
            </a:r>
          </a:p>
          <a:p>
            <a:endParaRPr lang="es-CL" dirty="0"/>
          </a:p>
          <a:p>
            <a:r>
              <a:rPr lang="es-CL" dirty="0"/>
              <a:t># 2. Ordenamos para que se vea bien</a:t>
            </a:r>
          </a:p>
          <a:p>
            <a:r>
              <a:rPr lang="es-CL" dirty="0" err="1"/>
              <a:t>precios.sort</a:t>
            </a:r>
            <a:r>
              <a:rPr lang="es-CL" dirty="0"/>
              <a:t>()</a:t>
            </a:r>
          </a:p>
          <a:p>
            <a:endParaRPr lang="es-CL" dirty="0"/>
          </a:p>
          <a:p>
            <a:r>
              <a:rPr lang="es-CL" dirty="0"/>
              <a:t># 3. Calculamos datos clave</a:t>
            </a:r>
          </a:p>
          <a:p>
            <a:r>
              <a:rPr lang="es-CL" dirty="0"/>
              <a:t>total = sum(precios)</a:t>
            </a:r>
          </a:p>
          <a:p>
            <a:r>
              <a:rPr lang="es-CL" dirty="0"/>
              <a:t>cantidad = </a:t>
            </a:r>
            <a:r>
              <a:rPr lang="es-CL" dirty="0" err="1"/>
              <a:t>len</a:t>
            </a:r>
            <a:r>
              <a:rPr lang="es-CL" dirty="0"/>
              <a:t>(precios)</a:t>
            </a:r>
          </a:p>
          <a:p>
            <a:endParaRPr lang="es-CL" dirty="0"/>
          </a:p>
          <a:p>
            <a:r>
              <a:rPr lang="es-CL" dirty="0" err="1"/>
              <a:t>print</a:t>
            </a:r>
            <a:r>
              <a:rPr lang="es-CL" dirty="0"/>
              <a:t>(</a:t>
            </a:r>
            <a:r>
              <a:rPr lang="es-CL" dirty="0" err="1"/>
              <a:t>f"Lista</a:t>
            </a:r>
            <a:r>
              <a:rPr lang="es-CL" dirty="0"/>
              <a:t> ordenada: {precios}")</a:t>
            </a:r>
          </a:p>
          <a:p>
            <a:r>
              <a:rPr lang="es-CL" dirty="0" err="1"/>
              <a:t>print</a:t>
            </a:r>
            <a:r>
              <a:rPr lang="es-CL" dirty="0"/>
              <a:t>(</a:t>
            </a:r>
            <a:r>
              <a:rPr lang="es-CL" dirty="0" err="1"/>
              <a:t>f"Tienes</a:t>
            </a:r>
            <a:r>
              <a:rPr lang="es-CL" dirty="0"/>
              <a:t> {cantidad} productos y el total es ${total}")</a:t>
            </a:r>
          </a:p>
        </p:txBody>
      </p:sp>
    </p:spTree>
    <p:extLst>
      <p:ext uri="{BB962C8B-B14F-4D97-AF65-F5344CB8AC3E}">
        <p14:creationId xmlns:p14="http://schemas.microsoft.com/office/powerpoint/2010/main" val="505887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C8EA1E-FE32-9ADC-0BC6-A8D1AC3E5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L" dirty="0"/>
              <a:t>Ejercicio Resuelto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66F125-6F81-DCBF-EC19-5FFBF1425B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809" y="1584283"/>
            <a:ext cx="9856381" cy="914368"/>
          </a:xfrm>
        </p:spPr>
        <p:txBody>
          <a:bodyPr/>
          <a:lstStyle/>
          <a:p>
            <a:r>
              <a:rPr lang="es-CL" b="1" dirty="0"/>
              <a:t>Problema:</a:t>
            </a:r>
            <a:r>
              <a:rPr lang="es-CL" dirty="0"/>
              <a:t> "Crear un sistema que guarde la información de una mascota y una lista de sus vacunas, luego mostrar cuántas vacunas tiene".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FEEAB59-0B09-A4F8-5A91-732F7EF1570E}"/>
              </a:ext>
            </a:extLst>
          </p:cNvPr>
          <p:cNvSpPr txBox="1"/>
          <p:nvPr/>
        </p:nvSpPr>
        <p:spPr>
          <a:xfrm>
            <a:off x="2264735" y="2661512"/>
            <a:ext cx="7385355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# Diccionario para los datos fijos</a:t>
            </a:r>
          </a:p>
          <a:p>
            <a:r>
              <a:rPr lang="es-CL" dirty="0"/>
              <a:t>mascota = {</a:t>
            </a:r>
          </a:p>
          <a:p>
            <a:r>
              <a:rPr lang="es-CL" dirty="0"/>
              <a:t>    "nombre": "Firulais",</a:t>
            </a:r>
          </a:p>
          <a:p>
            <a:r>
              <a:rPr lang="es-CL" dirty="0"/>
              <a:t>    "especie": "Perro"</a:t>
            </a:r>
          </a:p>
          <a:p>
            <a:r>
              <a:rPr lang="es-CL" dirty="0"/>
              <a:t>}</a:t>
            </a:r>
          </a:p>
          <a:p>
            <a:endParaRPr lang="es-CL" dirty="0"/>
          </a:p>
          <a:p>
            <a:r>
              <a:rPr lang="es-CL" dirty="0"/>
              <a:t># Lista para las vacunas (porque pueden aumentar)</a:t>
            </a:r>
          </a:p>
          <a:p>
            <a:r>
              <a:rPr lang="es-CL" dirty="0"/>
              <a:t>vacunas = ["Antirrábica", "</a:t>
            </a:r>
            <a:r>
              <a:rPr lang="es-CL" dirty="0" err="1"/>
              <a:t>Distemper</a:t>
            </a:r>
            <a:r>
              <a:rPr lang="es-CL" dirty="0"/>
              <a:t>"]</a:t>
            </a:r>
          </a:p>
          <a:p>
            <a:endParaRPr lang="es-CL" dirty="0"/>
          </a:p>
          <a:p>
            <a:r>
              <a:rPr lang="es-CL" dirty="0"/>
              <a:t># Operación</a:t>
            </a:r>
          </a:p>
          <a:p>
            <a:r>
              <a:rPr lang="es-CL" dirty="0" err="1"/>
              <a:t>vacunas.append</a:t>
            </a:r>
            <a:r>
              <a:rPr lang="es-CL" dirty="0"/>
              <a:t>("Parvovirus")</a:t>
            </a:r>
          </a:p>
          <a:p>
            <a:endParaRPr lang="es-CL" dirty="0"/>
          </a:p>
          <a:p>
            <a:r>
              <a:rPr lang="es-CL" dirty="0" err="1"/>
              <a:t>print</a:t>
            </a:r>
            <a:r>
              <a:rPr lang="es-CL" dirty="0"/>
              <a:t>(</a:t>
            </a:r>
            <a:r>
              <a:rPr lang="es-CL" dirty="0" err="1"/>
              <a:t>f"La</a:t>
            </a:r>
            <a:r>
              <a:rPr lang="es-CL" dirty="0"/>
              <a:t> mascota {mascota['nombre']} tiene {</a:t>
            </a:r>
            <a:r>
              <a:rPr lang="es-CL" dirty="0" err="1"/>
              <a:t>len</a:t>
            </a:r>
            <a:r>
              <a:rPr lang="es-CL" dirty="0"/>
              <a:t>(vacunas)} vacunas.")</a:t>
            </a:r>
          </a:p>
        </p:txBody>
      </p:sp>
    </p:spTree>
    <p:extLst>
      <p:ext uri="{BB962C8B-B14F-4D97-AF65-F5344CB8AC3E}">
        <p14:creationId xmlns:p14="http://schemas.microsoft.com/office/powerpoint/2010/main" val="37483974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E935330-72E8-ADCE-8FB0-6F0CA7DF5971}"/>
              </a:ext>
            </a:extLst>
          </p:cNvPr>
          <p:cNvSpPr txBox="1"/>
          <p:nvPr/>
        </p:nvSpPr>
        <p:spPr>
          <a:xfrm>
            <a:off x="3172597" y="320414"/>
            <a:ext cx="75283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1" dirty="0"/>
              <a:t>El Concepto:</a:t>
            </a:r>
            <a:r>
              <a:rPr lang="es-CL" dirty="0"/>
              <a:t> Imagina que cada producto es una "ficha" (Diccionario) y todos los productos están guardados en una "gaveta" (Lista). Usaremos el </a:t>
            </a:r>
            <a:r>
              <a:rPr lang="es-CL" b="1" dirty="0"/>
              <a:t>FOR</a:t>
            </a:r>
            <a:r>
              <a:rPr lang="es-CL" dirty="0"/>
              <a:t> para abrir la gaveta y revisar cada ficha una por una.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49384EC-4958-2C47-D95E-9AC85A62AAA2}"/>
              </a:ext>
            </a:extLst>
          </p:cNvPr>
          <p:cNvSpPr txBox="1"/>
          <p:nvPr/>
        </p:nvSpPr>
        <p:spPr>
          <a:xfrm>
            <a:off x="1146089" y="1397675"/>
            <a:ext cx="92583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400" dirty="0"/>
              <a:t># Una LISTA de DICCIONARIOS</a:t>
            </a:r>
          </a:p>
          <a:p>
            <a:r>
              <a:rPr lang="es-CL" sz="1400" dirty="0"/>
              <a:t>bodega = [</a:t>
            </a:r>
          </a:p>
          <a:p>
            <a:r>
              <a:rPr lang="es-CL" sz="1400" dirty="0"/>
              <a:t>    {"nombre": "Mouse", "precio": 15000, "stock": 10},</a:t>
            </a:r>
          </a:p>
          <a:p>
            <a:r>
              <a:rPr lang="es-CL" sz="1400" dirty="0"/>
              <a:t>    {"nombre": "Teclado", "precio": 25000, "stock": 0},</a:t>
            </a:r>
          </a:p>
          <a:p>
            <a:r>
              <a:rPr lang="es-CL" sz="1400" dirty="0"/>
              <a:t>    {"nombre": "Monitor", "precio": 120000, "stock": 5},</a:t>
            </a:r>
          </a:p>
          <a:p>
            <a:r>
              <a:rPr lang="es-CL" sz="1400" dirty="0"/>
              <a:t>    {"nombre": "Cable HDMI", "precio": 8000, "stock": 0}</a:t>
            </a:r>
          </a:p>
          <a:p>
            <a:r>
              <a:rPr lang="es-CL" sz="1400" dirty="0"/>
              <a:t>]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BE063D3-4E58-F41F-1CD2-8C52DE8EABCD}"/>
              </a:ext>
            </a:extLst>
          </p:cNvPr>
          <p:cNvSpPr txBox="1"/>
          <p:nvPr/>
        </p:nvSpPr>
        <p:spPr>
          <a:xfrm>
            <a:off x="1146089" y="3121266"/>
            <a:ext cx="1006921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200" b="1" dirty="0" err="1"/>
              <a:t>print</a:t>
            </a:r>
            <a:r>
              <a:rPr lang="es-CL" sz="1200" b="1" dirty="0"/>
              <a:t>("--- INFORME DE BODEGA ---")</a:t>
            </a:r>
          </a:p>
          <a:p>
            <a:endParaRPr lang="es-CL" sz="1200" b="1" dirty="0"/>
          </a:p>
          <a:p>
            <a:r>
              <a:rPr lang="es-CL" sz="1200" b="1" dirty="0" err="1"/>
              <a:t>total_inversion</a:t>
            </a:r>
            <a:r>
              <a:rPr lang="es-CL" sz="1200" b="1" dirty="0"/>
              <a:t> = 0</a:t>
            </a:r>
          </a:p>
          <a:p>
            <a:endParaRPr lang="es-CL" sz="1200" b="1" dirty="0"/>
          </a:p>
          <a:p>
            <a:r>
              <a:rPr lang="es-CL" sz="1200" b="1" dirty="0"/>
              <a:t># El FOR saca un diccionario a la vez y lo guarda en la variable '</a:t>
            </a:r>
            <a:r>
              <a:rPr lang="es-CL" sz="1200" b="1" dirty="0" err="1"/>
              <a:t>item</a:t>
            </a:r>
            <a:r>
              <a:rPr lang="es-CL" sz="1200" b="1" dirty="0"/>
              <a:t>'</a:t>
            </a:r>
          </a:p>
          <a:p>
            <a:r>
              <a:rPr lang="es-CL" sz="1200" b="1" dirty="0" err="1"/>
              <a:t>for</a:t>
            </a:r>
            <a:r>
              <a:rPr lang="es-CL" sz="1200" b="1" dirty="0"/>
              <a:t> </a:t>
            </a:r>
            <a:r>
              <a:rPr lang="es-CL" sz="1200" b="1" dirty="0" err="1"/>
              <a:t>item</a:t>
            </a:r>
            <a:r>
              <a:rPr lang="es-CL" sz="1200" b="1" dirty="0"/>
              <a:t> in bodega:</a:t>
            </a:r>
          </a:p>
          <a:p>
            <a:r>
              <a:rPr lang="es-CL" sz="1200" b="1" dirty="0"/>
              <a:t>    </a:t>
            </a:r>
          </a:p>
          <a:p>
            <a:r>
              <a:rPr lang="es-CL" sz="1200" b="1" dirty="0"/>
              <a:t>    # 1. IF: Revisamos si no hay productos</a:t>
            </a:r>
          </a:p>
          <a:p>
            <a:r>
              <a:rPr lang="es-CL" sz="1200" b="1" dirty="0"/>
              <a:t>    </a:t>
            </a:r>
            <a:r>
              <a:rPr lang="es-CL" sz="1200" b="1" dirty="0" err="1"/>
              <a:t>if</a:t>
            </a:r>
            <a:r>
              <a:rPr lang="es-CL" sz="1200" b="1" dirty="0"/>
              <a:t> </a:t>
            </a:r>
            <a:r>
              <a:rPr lang="es-CL" sz="1200" b="1" dirty="0" err="1"/>
              <a:t>item</a:t>
            </a:r>
            <a:r>
              <a:rPr lang="es-CL" sz="1200" b="1" dirty="0"/>
              <a:t>["stock"] == 0:</a:t>
            </a:r>
          </a:p>
          <a:p>
            <a:r>
              <a:rPr lang="es-CL" sz="1200" b="1" dirty="0"/>
              <a:t>        </a:t>
            </a:r>
            <a:r>
              <a:rPr lang="es-CL" sz="1200" b="1" dirty="0" err="1"/>
              <a:t>print</a:t>
            </a:r>
            <a:r>
              <a:rPr lang="es-CL" sz="1200" b="1" dirty="0"/>
              <a:t>(f"⚠️ ALERTA: El producto {</a:t>
            </a:r>
            <a:r>
              <a:rPr lang="es-CL" sz="1200" b="1" dirty="0" err="1"/>
              <a:t>item</a:t>
            </a:r>
            <a:r>
              <a:rPr lang="es-CL" sz="1200" b="1" dirty="0"/>
              <a:t>['nombre']} está agotado. ¡Pedir reposición!")</a:t>
            </a:r>
          </a:p>
          <a:p>
            <a:r>
              <a:rPr lang="es-CL" sz="1200" b="1" dirty="0"/>
              <a:t>    </a:t>
            </a:r>
            <a:r>
              <a:rPr lang="es-CL" sz="1200" b="1" dirty="0" err="1"/>
              <a:t>else</a:t>
            </a:r>
            <a:r>
              <a:rPr lang="es-CL" sz="1200" b="1" dirty="0"/>
              <a:t>:</a:t>
            </a:r>
          </a:p>
          <a:p>
            <a:r>
              <a:rPr lang="es-CL" sz="1200" b="1" dirty="0"/>
              <a:t>        # 2. Operación: Calculamos valor por producto y sumamos al total</a:t>
            </a:r>
          </a:p>
          <a:p>
            <a:r>
              <a:rPr lang="es-CL" sz="1200" b="1" dirty="0"/>
              <a:t>        </a:t>
            </a:r>
            <a:r>
              <a:rPr lang="es-CL" sz="1200" b="1" dirty="0" err="1"/>
              <a:t>valor_en_stock</a:t>
            </a:r>
            <a:r>
              <a:rPr lang="es-CL" sz="1200" b="1" dirty="0"/>
              <a:t> = </a:t>
            </a:r>
            <a:r>
              <a:rPr lang="es-CL" sz="1200" b="1" dirty="0" err="1"/>
              <a:t>item</a:t>
            </a:r>
            <a:r>
              <a:rPr lang="es-CL" sz="1200" b="1" dirty="0"/>
              <a:t>["precio"] * </a:t>
            </a:r>
            <a:r>
              <a:rPr lang="es-CL" sz="1200" b="1" dirty="0" err="1"/>
              <a:t>item</a:t>
            </a:r>
            <a:r>
              <a:rPr lang="es-CL" sz="1200" b="1" dirty="0"/>
              <a:t>["stock"]</a:t>
            </a:r>
          </a:p>
          <a:p>
            <a:r>
              <a:rPr lang="es-CL" sz="1200" b="1" dirty="0"/>
              <a:t>        </a:t>
            </a:r>
            <a:r>
              <a:rPr lang="es-CL" sz="1200" b="1" dirty="0" err="1"/>
              <a:t>total_inversion</a:t>
            </a:r>
            <a:r>
              <a:rPr lang="es-CL" sz="1200" b="1" dirty="0"/>
              <a:t> += </a:t>
            </a:r>
            <a:r>
              <a:rPr lang="es-CL" sz="1200" b="1" dirty="0" err="1"/>
              <a:t>valor_en_stock</a:t>
            </a:r>
            <a:endParaRPr lang="es-CL" sz="1200" b="1" dirty="0"/>
          </a:p>
          <a:p>
            <a:r>
              <a:rPr lang="es-CL" sz="1200" b="1" dirty="0"/>
              <a:t>        </a:t>
            </a:r>
            <a:r>
              <a:rPr lang="es-CL" sz="1200" b="1" dirty="0" err="1"/>
              <a:t>print</a:t>
            </a:r>
            <a:r>
              <a:rPr lang="es-CL" sz="1200" b="1" dirty="0"/>
              <a:t>(f"✅ {</a:t>
            </a:r>
            <a:r>
              <a:rPr lang="es-CL" sz="1200" b="1" dirty="0" err="1"/>
              <a:t>item</a:t>
            </a:r>
            <a:r>
              <a:rPr lang="es-CL" sz="1200" b="1" dirty="0"/>
              <a:t>['nombre']}: Hay {</a:t>
            </a:r>
            <a:r>
              <a:rPr lang="es-CL" sz="1200" b="1" dirty="0" err="1"/>
              <a:t>item</a:t>
            </a:r>
            <a:r>
              <a:rPr lang="es-CL" sz="1200" b="1" dirty="0"/>
              <a:t>['stock']} unidades disponibles.")</a:t>
            </a:r>
          </a:p>
          <a:p>
            <a:endParaRPr lang="es-CL" sz="1200" b="1" dirty="0"/>
          </a:p>
          <a:p>
            <a:r>
              <a:rPr lang="es-CL" sz="1200" b="1" dirty="0" err="1"/>
              <a:t>print</a:t>
            </a:r>
            <a:r>
              <a:rPr lang="es-CL" sz="1200" b="1" dirty="0"/>
              <a:t>("-" * 30)</a:t>
            </a:r>
          </a:p>
          <a:p>
            <a:r>
              <a:rPr lang="es-CL" sz="1200" b="1" dirty="0" err="1"/>
              <a:t>print</a:t>
            </a:r>
            <a:r>
              <a:rPr lang="es-CL" sz="1200" b="1" dirty="0"/>
              <a:t>(f"💰 Capital total invertido en stock: ${</a:t>
            </a:r>
            <a:r>
              <a:rPr lang="es-CL" sz="1200" b="1" dirty="0" err="1"/>
              <a:t>total_inversion</a:t>
            </a:r>
            <a:r>
              <a:rPr lang="es-CL" sz="1200" b="1" dirty="0"/>
              <a:t>}")</a:t>
            </a:r>
            <a:endParaRPr lang="es-CL" sz="120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0DDC3E2-3B5F-1F20-6428-E5791CE0460F}"/>
              </a:ext>
            </a:extLst>
          </p:cNvPr>
          <p:cNvSpPr txBox="1"/>
          <p:nvPr/>
        </p:nvSpPr>
        <p:spPr>
          <a:xfrm>
            <a:off x="7744598" y="2242742"/>
            <a:ext cx="295635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1" dirty="0"/>
              <a:t>Problema:</a:t>
            </a:r>
            <a:r>
              <a:rPr lang="es-CL" dirty="0"/>
              <a:t> "Debemos recorrer la bodega y avisar qué productos tienen stock 0 para pedir más, y calcular cuánto dinero hay invertido en los que sí tienen stock".</a:t>
            </a:r>
          </a:p>
        </p:txBody>
      </p:sp>
    </p:spTree>
    <p:extLst>
      <p:ext uri="{BB962C8B-B14F-4D97-AF65-F5344CB8AC3E}">
        <p14:creationId xmlns:p14="http://schemas.microsoft.com/office/powerpoint/2010/main" val="784804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870512-2306-67C5-C99E-33FB0FBC7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5632" y="269441"/>
            <a:ext cx="7958331" cy="1077229"/>
          </a:xfrm>
        </p:spPr>
        <p:txBody>
          <a:bodyPr/>
          <a:lstStyle/>
          <a:p>
            <a:pPr algn="ctr"/>
            <a:r>
              <a:rPr lang="es-CL" dirty="0"/>
              <a:t>Ejercicio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49C2A5-6956-01B2-E2FC-7D5BDDFBF5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4833" y="1346670"/>
            <a:ext cx="9262334" cy="4625181"/>
          </a:xfrm>
        </p:spPr>
        <p:txBody>
          <a:bodyPr/>
          <a:lstStyle/>
          <a:p>
            <a:r>
              <a:rPr lang="es-CL" dirty="0"/>
              <a:t>Crea una </a:t>
            </a:r>
            <a:r>
              <a:rPr lang="es-CL" b="1" dirty="0"/>
              <a:t>lista</a:t>
            </a:r>
            <a:r>
              <a:rPr lang="es-CL" dirty="0"/>
              <a:t> llamada ciudades con 3 ciudades de Chile.</a:t>
            </a:r>
          </a:p>
          <a:p>
            <a:r>
              <a:rPr lang="es-CL" dirty="0"/>
              <a:t>Crea una </a:t>
            </a:r>
            <a:r>
              <a:rPr lang="es-CL" b="1" dirty="0"/>
              <a:t>tupla</a:t>
            </a:r>
            <a:r>
              <a:rPr lang="es-CL" dirty="0"/>
              <a:t> llamada </a:t>
            </a:r>
            <a:r>
              <a:rPr lang="es-CL" dirty="0" err="1"/>
              <a:t>fecha_nacimiento</a:t>
            </a:r>
            <a:r>
              <a:rPr lang="es-CL" dirty="0"/>
              <a:t> con (día, mes, año).</a:t>
            </a:r>
          </a:p>
          <a:p>
            <a:r>
              <a:rPr lang="es-CL" dirty="0"/>
              <a:t>Crea un </a:t>
            </a:r>
            <a:r>
              <a:rPr lang="es-CL" b="1" dirty="0"/>
              <a:t>diccionario</a:t>
            </a:r>
            <a:r>
              <a:rPr lang="es-CL" dirty="0"/>
              <a:t> llamado curso con las claves: "nombre", "</a:t>
            </a:r>
            <a:r>
              <a:rPr lang="es-CL" dirty="0" err="1"/>
              <a:t>codigo</a:t>
            </a:r>
            <a:r>
              <a:rPr lang="es-CL" dirty="0"/>
              <a:t>" y "</a:t>
            </a:r>
            <a:r>
              <a:rPr lang="es-CL" dirty="0" err="1"/>
              <a:t>cantidad_alumnos</a:t>
            </a:r>
            <a:r>
              <a:rPr lang="es-CL" dirty="0"/>
              <a:t>".</a:t>
            </a:r>
          </a:p>
          <a:p>
            <a:r>
              <a:rPr lang="es-CL" dirty="0"/>
              <a:t>Usa </a:t>
            </a:r>
            <a:r>
              <a:rPr lang="es-CL" dirty="0" err="1"/>
              <a:t>len</a:t>
            </a:r>
            <a:r>
              <a:rPr lang="es-CL" dirty="0"/>
              <a:t>() para mostrar cuántas ciudades hay en tu lista.</a:t>
            </a:r>
          </a:p>
          <a:p>
            <a:r>
              <a:rPr lang="es-CL" b="1" dirty="0"/>
              <a:t>Pregunta para pensar:</a:t>
            </a:r>
            <a:r>
              <a:rPr lang="es-CL" dirty="0"/>
              <a:t> ¿Qué pasa si intentas hacer </a:t>
            </a:r>
            <a:r>
              <a:rPr lang="es-CL" dirty="0" err="1"/>
              <a:t>ciudades.append</a:t>
            </a:r>
            <a:r>
              <a:rPr lang="es-CL" dirty="0"/>
              <a:t>("Iquique")? ¿Y si intentas cambiar un valor de la tupla </a:t>
            </a:r>
            <a:r>
              <a:rPr lang="es-CL" dirty="0" err="1"/>
              <a:t>fecha_nacimiento</a:t>
            </a:r>
            <a:r>
              <a:rPr lang="es-CL" dirty="0"/>
              <a:t>?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747218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1B1A77-7349-2674-8D25-D4C5BB9E8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450" y="393387"/>
            <a:ext cx="9636898" cy="1077229"/>
          </a:xfrm>
        </p:spPr>
        <p:txBody>
          <a:bodyPr>
            <a:normAutofit/>
          </a:bodyPr>
          <a:lstStyle/>
          <a:p>
            <a:r>
              <a:rPr lang="es-CL" sz="1800" b="1" dirty="0"/>
              <a:t>El Reto:</a:t>
            </a:r>
            <a:r>
              <a:rPr lang="es-CL" sz="1800" dirty="0"/>
              <a:t> Vamos a programar el sistema de una bodega que procesa pedidos de clientes.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D73A6C-1429-06AE-3BA3-1A9DB4279C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0450" y="1470616"/>
            <a:ext cx="8989689" cy="4579328"/>
          </a:xfrm>
        </p:spPr>
        <p:txBody>
          <a:bodyPr>
            <a:normAutofit/>
          </a:bodyPr>
          <a:lstStyle/>
          <a:p>
            <a:r>
              <a:rPr lang="es-CL" b="1" dirty="0"/>
              <a:t>Definición del Problema</a:t>
            </a:r>
          </a:p>
          <a:p>
            <a:r>
              <a:rPr lang="es-CL" dirty="0"/>
              <a:t>Una tienda tiene una lista de productos listos para enviar. Debemos:</a:t>
            </a:r>
          </a:p>
          <a:p>
            <a:r>
              <a:rPr lang="es-CL" dirty="0"/>
              <a:t>Recorrer la lista de productos (</a:t>
            </a:r>
            <a:r>
              <a:rPr lang="es-CL" b="1" dirty="0"/>
              <a:t>FOR</a:t>
            </a:r>
            <a:r>
              <a:rPr lang="es-CL" dirty="0"/>
              <a:t>).</a:t>
            </a:r>
          </a:p>
          <a:p>
            <a:r>
              <a:rPr lang="es-CL" dirty="0"/>
              <a:t>Si un producto es "Frágil", pedir al usuario que confirme si tiene embalaje especial (</a:t>
            </a:r>
            <a:r>
              <a:rPr lang="es-CL" b="1" dirty="0"/>
              <a:t>IF</a:t>
            </a:r>
            <a:r>
              <a:rPr lang="es-CL" dirty="0"/>
              <a:t>).</a:t>
            </a:r>
          </a:p>
          <a:p>
            <a:r>
              <a:rPr lang="es-CL" dirty="0"/>
              <a:t>Si no tiene embalaje, el sistema debe preguntar "Ingrese código de caja" repetidamente hasta que el código sea correcto (</a:t>
            </a:r>
            <a:r>
              <a:rPr lang="es-CL" b="1" dirty="0"/>
              <a:t>WHILE</a:t>
            </a:r>
            <a:r>
              <a:rPr lang="es-CL" dirty="0"/>
              <a:t>).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1856204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5F96BCA-1F96-2A22-7D2F-B80E8AB007FA}"/>
              </a:ext>
            </a:extLst>
          </p:cNvPr>
          <p:cNvSpPr txBox="1"/>
          <p:nvPr/>
        </p:nvSpPr>
        <p:spPr>
          <a:xfrm>
            <a:off x="2557848" y="98855"/>
            <a:ext cx="8145178" cy="64633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pedidos = ["Libro", "Jarrón (Frágil)", "Silla", "Espejo (Frágil)"]</a:t>
            </a:r>
          </a:p>
          <a:p>
            <a:r>
              <a:rPr lang="es-CL" dirty="0" err="1"/>
              <a:t>codigo_seguridad</a:t>
            </a:r>
            <a:r>
              <a:rPr lang="es-CL" dirty="0"/>
              <a:t> = "1234”</a:t>
            </a:r>
          </a:p>
          <a:p>
            <a:endParaRPr lang="es-CL" dirty="0"/>
          </a:p>
          <a:p>
            <a:r>
              <a:rPr lang="es-CL" dirty="0" err="1"/>
              <a:t>for</a:t>
            </a:r>
            <a:r>
              <a:rPr lang="es-CL" dirty="0"/>
              <a:t> producto in pedidos:</a:t>
            </a:r>
          </a:p>
          <a:p>
            <a:r>
              <a:rPr lang="es-CL" dirty="0"/>
              <a:t>    </a:t>
            </a:r>
            <a:r>
              <a:rPr lang="es-CL" dirty="0" err="1"/>
              <a:t>print</a:t>
            </a:r>
            <a:r>
              <a:rPr lang="es-CL" dirty="0"/>
              <a:t>(f"\n📦 Procesando: {producto}")</a:t>
            </a:r>
          </a:p>
          <a:p>
            <a:r>
              <a:rPr lang="es-CL" dirty="0"/>
              <a:t>    </a:t>
            </a:r>
          </a:p>
          <a:p>
            <a:r>
              <a:rPr lang="es-CL" dirty="0"/>
              <a:t>    # 1. IF: Detectamos si es frágil</a:t>
            </a:r>
          </a:p>
          <a:p>
            <a:r>
              <a:rPr lang="es-CL" dirty="0"/>
              <a:t>    </a:t>
            </a:r>
            <a:r>
              <a:rPr lang="es-CL" dirty="0" err="1"/>
              <a:t>if</a:t>
            </a:r>
            <a:r>
              <a:rPr lang="es-CL" dirty="0"/>
              <a:t> "(Frágil)" in producto:</a:t>
            </a:r>
          </a:p>
          <a:p>
            <a:r>
              <a:rPr lang="es-CL" dirty="0"/>
              <a:t>        </a:t>
            </a:r>
            <a:r>
              <a:rPr lang="es-CL" dirty="0" err="1"/>
              <a:t>print</a:t>
            </a:r>
            <a:r>
              <a:rPr lang="es-CL" dirty="0"/>
              <a:t>("Alerta: Producto delicado detectado.")</a:t>
            </a:r>
          </a:p>
          <a:p>
            <a:r>
              <a:rPr lang="es-CL" dirty="0"/>
              <a:t>        </a:t>
            </a:r>
          </a:p>
          <a:p>
            <a:r>
              <a:rPr lang="es-CL" dirty="0"/>
              <a:t>        # 2. WHILE: Validación hasta que el código sea correcto</a:t>
            </a:r>
          </a:p>
          <a:p>
            <a:r>
              <a:rPr lang="es-CL" dirty="0"/>
              <a:t>        </a:t>
            </a:r>
            <a:r>
              <a:rPr lang="es-CL" dirty="0" err="1"/>
              <a:t>password</a:t>
            </a:r>
            <a:r>
              <a:rPr lang="es-CL" dirty="0"/>
              <a:t> = ""</a:t>
            </a:r>
          </a:p>
          <a:p>
            <a:r>
              <a:rPr lang="es-CL" dirty="0"/>
              <a:t>        </a:t>
            </a:r>
            <a:r>
              <a:rPr lang="es-CL" dirty="0" err="1"/>
              <a:t>while</a:t>
            </a:r>
            <a:r>
              <a:rPr lang="es-CL" dirty="0"/>
              <a:t> </a:t>
            </a:r>
            <a:r>
              <a:rPr lang="es-CL" dirty="0" err="1"/>
              <a:t>password</a:t>
            </a:r>
            <a:r>
              <a:rPr lang="es-CL" dirty="0"/>
              <a:t> != </a:t>
            </a:r>
            <a:r>
              <a:rPr lang="es-CL" dirty="0" err="1"/>
              <a:t>codigo_seguridad</a:t>
            </a:r>
            <a:r>
              <a:rPr lang="es-CL" dirty="0"/>
              <a:t>:</a:t>
            </a:r>
          </a:p>
          <a:p>
            <a:r>
              <a:rPr lang="es-CL" dirty="0"/>
              <a:t>            </a:t>
            </a:r>
            <a:r>
              <a:rPr lang="es-CL" dirty="0" err="1"/>
              <a:t>password</a:t>
            </a:r>
            <a:r>
              <a:rPr lang="es-CL" dirty="0"/>
              <a:t> = input("Ingrese código de caja reforzada para continuar: ")</a:t>
            </a:r>
          </a:p>
          <a:p>
            <a:r>
              <a:rPr lang="es-CL" dirty="0"/>
              <a:t>            </a:t>
            </a:r>
          </a:p>
          <a:p>
            <a:r>
              <a:rPr lang="es-CL" dirty="0"/>
              <a:t>            </a:t>
            </a:r>
            <a:r>
              <a:rPr lang="es-CL" dirty="0" err="1"/>
              <a:t>if</a:t>
            </a:r>
            <a:r>
              <a:rPr lang="es-CL" dirty="0"/>
              <a:t> </a:t>
            </a:r>
            <a:r>
              <a:rPr lang="es-CL" dirty="0" err="1"/>
              <a:t>password</a:t>
            </a:r>
            <a:r>
              <a:rPr lang="es-CL" dirty="0"/>
              <a:t> != </a:t>
            </a:r>
            <a:r>
              <a:rPr lang="es-CL" dirty="0" err="1"/>
              <a:t>codigo_seguridad</a:t>
            </a:r>
            <a:r>
              <a:rPr lang="es-CL" dirty="0"/>
              <a:t>:</a:t>
            </a:r>
          </a:p>
          <a:p>
            <a:r>
              <a:rPr lang="es-CL" dirty="0"/>
              <a:t>                </a:t>
            </a:r>
            <a:r>
              <a:rPr lang="es-CL" dirty="0" err="1"/>
              <a:t>print</a:t>
            </a:r>
            <a:r>
              <a:rPr lang="es-CL" dirty="0"/>
              <a:t>("Código incorrecto. El producto no puede salir sin protección.")</a:t>
            </a:r>
          </a:p>
          <a:p>
            <a:r>
              <a:rPr lang="es-CL" dirty="0"/>
              <a:t>        </a:t>
            </a:r>
          </a:p>
          <a:p>
            <a:r>
              <a:rPr lang="es-CL" dirty="0"/>
              <a:t>        </a:t>
            </a:r>
            <a:r>
              <a:rPr lang="es-CL" dirty="0" err="1"/>
              <a:t>print</a:t>
            </a:r>
            <a:r>
              <a:rPr lang="es-CL" dirty="0"/>
              <a:t>("Protección confirmada.")</a:t>
            </a:r>
          </a:p>
          <a:p>
            <a:endParaRPr lang="es-CL" dirty="0"/>
          </a:p>
          <a:p>
            <a:r>
              <a:rPr lang="es-CL" dirty="0"/>
              <a:t>    </a:t>
            </a:r>
            <a:r>
              <a:rPr lang="es-CL" dirty="0" err="1"/>
              <a:t>print</a:t>
            </a:r>
            <a:r>
              <a:rPr lang="es-CL" dirty="0"/>
              <a:t>(f"{producto} enviado con éxito.")</a:t>
            </a:r>
          </a:p>
          <a:p>
            <a:endParaRPr lang="es-CL" dirty="0"/>
          </a:p>
          <a:p>
            <a:r>
              <a:rPr lang="es-CL" dirty="0" err="1"/>
              <a:t>print</a:t>
            </a:r>
            <a:r>
              <a:rPr lang="es-CL" dirty="0"/>
              <a:t>("\n--- TODOS LOS PEDIDOS FUERON DESPACHADOS ---")</a:t>
            </a:r>
          </a:p>
        </p:txBody>
      </p:sp>
    </p:spTree>
    <p:extLst>
      <p:ext uri="{BB962C8B-B14F-4D97-AF65-F5344CB8AC3E}">
        <p14:creationId xmlns:p14="http://schemas.microsoft.com/office/powerpoint/2010/main" val="41774046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8AE0CB9-7134-B9AD-65F4-3CF19467F9D8}"/>
              </a:ext>
            </a:extLst>
          </p:cNvPr>
          <p:cNvSpPr txBox="1"/>
          <p:nvPr/>
        </p:nvSpPr>
        <p:spPr>
          <a:xfrm>
            <a:off x="3046971" y="1694070"/>
            <a:ext cx="609805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b="1" dirty="0"/>
              <a:t>Herramientas utilizadas: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L" b="1" dirty="0" err="1">
                <a:latin typeface="Courier New" panose="02070309020205020404" pitchFamily="49" charset="0"/>
              </a:rPr>
              <a:t>for</a:t>
            </a:r>
            <a:r>
              <a:rPr lang="es-CL" dirty="0"/>
              <a:t>: Para pasar por cada elemento de la lista </a:t>
            </a:r>
            <a:r>
              <a:rPr lang="es-CL" dirty="0">
                <a:latin typeface="Courier New" panose="02070309020205020404" pitchFamily="49" charset="0"/>
              </a:rPr>
              <a:t>pedidos</a:t>
            </a:r>
            <a:r>
              <a:rPr lang="es-CL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L" b="1" dirty="0" err="1">
                <a:latin typeface="Courier New" panose="02070309020205020404" pitchFamily="49" charset="0"/>
              </a:rPr>
              <a:t>if</a:t>
            </a:r>
            <a:r>
              <a:rPr lang="es-CL" dirty="0"/>
              <a:t>: Para decidir si el producto necesita un paso extra de seguridad.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L" b="1" dirty="0" err="1">
                <a:latin typeface="Courier New" panose="02070309020205020404" pitchFamily="49" charset="0"/>
              </a:rPr>
              <a:t>while</a:t>
            </a:r>
            <a:r>
              <a:rPr lang="es-CL" dirty="0"/>
              <a:t>: Para bloquear el programa hasta que se cumpla una condición (el código correcto).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L" b="1" dirty="0">
                <a:latin typeface="Courier New" panose="02070309020205020404" pitchFamily="49" charset="0"/>
              </a:rPr>
              <a:t>in</a:t>
            </a:r>
            <a:r>
              <a:rPr lang="es-CL" dirty="0"/>
              <a:t>: (Operador de membresía) Para buscar la palabra "Frágil" dentro del texto del producto.</a:t>
            </a:r>
          </a:p>
        </p:txBody>
      </p:sp>
    </p:spTree>
    <p:extLst>
      <p:ext uri="{BB962C8B-B14F-4D97-AF65-F5344CB8AC3E}">
        <p14:creationId xmlns:p14="http://schemas.microsoft.com/office/powerpoint/2010/main" val="15102300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BEE547ED-721F-4D9E-677D-3B0BF58CBDAD}"/>
              </a:ext>
            </a:extLst>
          </p:cNvPr>
          <p:cNvSpPr txBox="1"/>
          <p:nvPr/>
        </p:nvSpPr>
        <p:spPr>
          <a:xfrm>
            <a:off x="2644345" y="407773"/>
            <a:ext cx="8476735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sz="2400" b="1" dirty="0"/>
              <a:t>Instrucciones:</a:t>
            </a:r>
            <a:r>
              <a:rPr lang="es-CL" sz="2400" dirty="0"/>
              <a:t> Crea un sistema para una gasolinera que tiene </a:t>
            </a:r>
            <a:r>
              <a:rPr lang="es-CL" sz="2400" b="1" dirty="0"/>
              <a:t>3 bombas</a:t>
            </a:r>
            <a:r>
              <a:rPr lang="es-CL" sz="2400" dirty="0"/>
              <a:t> de carga.</a:t>
            </a:r>
          </a:p>
          <a:p>
            <a:pPr>
              <a:buFont typeface="+mj-lt"/>
              <a:buAutoNum type="arabicPeriod"/>
            </a:pPr>
            <a:r>
              <a:rPr lang="es-CL" sz="2400" dirty="0"/>
              <a:t>Usa un </a:t>
            </a:r>
            <a:r>
              <a:rPr lang="es-CL" sz="2400" b="1" dirty="0"/>
              <a:t>FOR</a:t>
            </a:r>
            <a:r>
              <a:rPr lang="es-CL" sz="2400" dirty="0"/>
              <a:t> para recorrer las bombas de la 1 a la 3.</a:t>
            </a:r>
          </a:p>
          <a:p>
            <a:pPr>
              <a:buFont typeface="+mj-lt"/>
              <a:buAutoNum type="arabicPeriod"/>
            </a:pPr>
            <a:r>
              <a:rPr lang="es-CL" sz="2400" dirty="0"/>
              <a:t>Para cada bomba, pregunta al usuario: "¿Desea cargar combustible? (si/no)".</a:t>
            </a:r>
          </a:p>
          <a:p>
            <a:pPr>
              <a:buFont typeface="+mj-lt"/>
              <a:buAutoNum type="arabicPeriod"/>
            </a:pPr>
            <a:r>
              <a:rPr lang="es-CL" sz="2400" b="1" dirty="0"/>
              <a:t>Si</a:t>
            </a:r>
            <a:r>
              <a:rPr lang="es-CL" sz="2400" dirty="0"/>
              <a:t> dice que "si":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CL" sz="2400" dirty="0"/>
              <a:t>Usa un </a:t>
            </a:r>
            <a:r>
              <a:rPr lang="es-CL" sz="2400" b="1" dirty="0"/>
              <a:t>WHILE</a:t>
            </a:r>
            <a:r>
              <a:rPr lang="es-CL" sz="2400" dirty="0"/>
              <a:t> para pedir el monto a cargar. El monto debe ser </a:t>
            </a:r>
            <a:r>
              <a:rPr lang="es-CL" sz="2400" b="1" dirty="0"/>
              <a:t>mayor a 0</a:t>
            </a:r>
            <a:r>
              <a:rPr lang="es-CL" sz="2400" dirty="0"/>
              <a:t>. Si pone 0 o menos, debe seguir preguntando: "Error, ingrese un monto válido: ".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CL" sz="2400" dirty="0"/>
              <a:t>Al final de la carga, imprime: "Bomba X cargada con $XXXX".</a:t>
            </a:r>
          </a:p>
          <a:p>
            <a:pPr>
              <a:buFont typeface="+mj-lt"/>
              <a:buAutoNum type="arabicPeriod"/>
            </a:pPr>
            <a:r>
              <a:rPr lang="es-CL" sz="2400" b="1" dirty="0"/>
              <a:t>Si</a:t>
            </a:r>
            <a:r>
              <a:rPr lang="es-CL" sz="2400" dirty="0"/>
              <a:t> dice que "no":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CL" sz="2400" dirty="0"/>
              <a:t>Usa </a:t>
            </a:r>
            <a:r>
              <a:rPr lang="es-CL" sz="2400" dirty="0">
                <a:latin typeface="Courier New" panose="02070309020205020404" pitchFamily="49" charset="0"/>
              </a:rPr>
              <a:t>continue</a:t>
            </a:r>
            <a:r>
              <a:rPr lang="es-CL" sz="2400" dirty="0"/>
              <a:t> para pasar a la siguiente bomba.</a:t>
            </a:r>
          </a:p>
          <a:p>
            <a:pPr>
              <a:buNone/>
            </a:pPr>
            <a:r>
              <a:rPr lang="es-CL" sz="2400" b="1" dirty="0"/>
              <a:t>¿Qué deben lograr?</a:t>
            </a:r>
            <a:r>
              <a:rPr lang="es-CL" sz="2400" dirty="0"/>
              <a:t> Identificar que el </a:t>
            </a:r>
            <a:r>
              <a:rPr lang="es-CL" sz="2400" dirty="0" err="1">
                <a:latin typeface="Courier New" panose="02070309020205020404" pitchFamily="49" charset="0"/>
              </a:rPr>
              <a:t>for</a:t>
            </a:r>
            <a:r>
              <a:rPr lang="es-CL" sz="2400" dirty="0"/>
              <a:t> controla las estaciones, el </a:t>
            </a:r>
            <a:r>
              <a:rPr lang="es-CL" sz="2400" dirty="0" err="1">
                <a:latin typeface="Courier New" panose="02070309020205020404" pitchFamily="49" charset="0"/>
              </a:rPr>
              <a:t>if</a:t>
            </a:r>
            <a:r>
              <a:rPr lang="es-CL" sz="2400" dirty="0"/>
              <a:t> decide si se trabaja en ellas y el </a:t>
            </a:r>
            <a:r>
              <a:rPr lang="es-CL" sz="2400" dirty="0" err="1">
                <a:latin typeface="Courier New" panose="02070309020205020404" pitchFamily="49" charset="0"/>
              </a:rPr>
              <a:t>while</a:t>
            </a:r>
            <a:r>
              <a:rPr lang="es-CL" sz="2400" dirty="0"/>
              <a:t> asegura que el dato numérico sea útil.</a:t>
            </a:r>
          </a:p>
        </p:txBody>
      </p:sp>
    </p:spTree>
    <p:extLst>
      <p:ext uri="{BB962C8B-B14F-4D97-AF65-F5344CB8AC3E}">
        <p14:creationId xmlns:p14="http://schemas.microsoft.com/office/powerpoint/2010/main" val="28060714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2E983D-22FD-D7DF-8C15-B25150C00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8540" y="163097"/>
            <a:ext cx="5825144" cy="644959"/>
          </a:xfrm>
        </p:spPr>
        <p:txBody>
          <a:bodyPr>
            <a:normAutofit/>
          </a:bodyPr>
          <a:lstStyle/>
          <a:p>
            <a:r>
              <a:rPr lang="es-CL" sz="2000" dirty="0"/>
              <a:t>Tienes la siguiente lista de estudiantes: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3CD6B47-48B1-15AC-21B6-5BDDDFD83602}"/>
              </a:ext>
            </a:extLst>
          </p:cNvPr>
          <p:cNvSpPr txBox="1"/>
          <p:nvPr/>
        </p:nvSpPr>
        <p:spPr>
          <a:xfrm>
            <a:off x="3046971" y="945458"/>
            <a:ext cx="609805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estudiantes = [</a:t>
            </a:r>
          </a:p>
          <a:p>
            <a:r>
              <a:rPr lang="es-CL" dirty="0"/>
              <a:t>    {"nombre": "Carlos", "nota": 3.5},</a:t>
            </a:r>
          </a:p>
          <a:p>
            <a:r>
              <a:rPr lang="es-CL" dirty="0"/>
              <a:t>    {"nombre": "</a:t>
            </a:r>
            <a:r>
              <a:rPr lang="es-CL" dirty="0" err="1"/>
              <a:t>Maria</a:t>
            </a:r>
            <a:r>
              <a:rPr lang="es-CL" dirty="0"/>
              <a:t>", "nota": 6.2},</a:t>
            </a:r>
          </a:p>
          <a:p>
            <a:r>
              <a:rPr lang="es-CL" dirty="0"/>
              <a:t>    {"nombre": "</a:t>
            </a:r>
            <a:r>
              <a:rPr lang="es-CL" dirty="0" err="1"/>
              <a:t>Jose</a:t>
            </a:r>
            <a:r>
              <a:rPr lang="es-CL" dirty="0"/>
              <a:t>", "nota": 4.0},</a:t>
            </a:r>
          </a:p>
          <a:p>
            <a:r>
              <a:rPr lang="es-CL" dirty="0"/>
              <a:t>    {"nombre": "Ana", "nota": 2.8}</a:t>
            </a:r>
          </a:p>
          <a:p>
            <a:r>
              <a:rPr lang="es-CL" dirty="0"/>
              <a:t>]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098F33F-4ED6-8F0B-060F-8B85018F8A62}"/>
              </a:ext>
            </a:extLst>
          </p:cNvPr>
          <p:cNvSpPr txBox="1"/>
          <p:nvPr/>
        </p:nvSpPr>
        <p:spPr>
          <a:xfrm>
            <a:off x="1581665" y="3237470"/>
            <a:ext cx="790152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dirty="0"/>
              <a:t>Tu misión:</a:t>
            </a:r>
            <a:endParaRPr lang="es-CL" dirty="0"/>
          </a:p>
          <a:p>
            <a:r>
              <a:rPr lang="es-CL" dirty="0"/>
              <a:t>Usa un </a:t>
            </a:r>
            <a:r>
              <a:rPr lang="es-CL" b="1" dirty="0"/>
              <a:t>FOR</a:t>
            </a:r>
            <a:r>
              <a:rPr lang="es-CL" dirty="0"/>
              <a:t> para recorrer la lista.</a:t>
            </a:r>
          </a:p>
          <a:p>
            <a:r>
              <a:rPr lang="es-CL" dirty="0"/>
              <a:t>Dentro del bucle, usa un </a:t>
            </a:r>
            <a:r>
              <a:rPr lang="es-CL" b="1" dirty="0"/>
              <a:t>IF</a:t>
            </a:r>
            <a:r>
              <a:rPr lang="es-CL" dirty="0"/>
              <a:t> para verificar la nota:</a:t>
            </a:r>
          </a:p>
          <a:p>
            <a:pPr lvl="1"/>
            <a:r>
              <a:rPr lang="es-CL" dirty="0"/>
              <a:t>Si la nota es </a:t>
            </a:r>
            <a:r>
              <a:rPr lang="es-CL" b="1" dirty="0"/>
              <a:t>4.0 o más</a:t>
            </a:r>
            <a:r>
              <a:rPr lang="es-CL" dirty="0"/>
              <a:t>, imprime: "Estudiante [nombre]: Aprobado".</a:t>
            </a:r>
          </a:p>
          <a:p>
            <a:pPr lvl="1"/>
            <a:r>
              <a:rPr lang="es-CL" dirty="0"/>
              <a:t>Si la nota es </a:t>
            </a:r>
            <a:r>
              <a:rPr lang="es-CL" b="1" dirty="0"/>
              <a:t>menor a 4.0</a:t>
            </a:r>
            <a:r>
              <a:rPr lang="es-CL" dirty="0"/>
              <a:t>, imprime: "Estudiante [nombre]: Reprobado".</a:t>
            </a:r>
          </a:p>
          <a:p>
            <a:r>
              <a:rPr lang="es-CL" dirty="0"/>
              <a:t>Al final, usa </a:t>
            </a:r>
            <a:r>
              <a:rPr lang="es-CL" dirty="0" err="1"/>
              <a:t>len</a:t>
            </a:r>
            <a:r>
              <a:rPr lang="es-CL" dirty="0"/>
              <a:t>() para mostrar cuántos estudiantes se evaluaron en total.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8397384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70</TotalTime>
  <Words>1818</Words>
  <Application>Microsoft Macintosh PowerPoint</Application>
  <PresentationFormat>Panorámica</PresentationFormat>
  <Paragraphs>183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3" baseType="lpstr">
      <vt:lpstr>Arial</vt:lpstr>
      <vt:lpstr>Courier New</vt:lpstr>
      <vt:lpstr>MS Shell Dlg 2</vt:lpstr>
      <vt:lpstr>Wingdings</vt:lpstr>
      <vt:lpstr>Wingdings 3</vt:lpstr>
      <vt:lpstr>Madison</vt:lpstr>
      <vt:lpstr>Listas, tuplas y diccionarios</vt:lpstr>
      <vt:lpstr>Aprendizajes esperados</vt:lpstr>
      <vt:lpstr>Estructuras de Datos</vt:lpstr>
      <vt:lpstr>Las Listas [ ] (El estante que cambia)</vt:lpstr>
      <vt:lpstr>Las Tuplas () (El cofre bajo llave)</vt:lpstr>
      <vt:lpstr>Los Diccionarios {} (La Agenda Maestra)</vt:lpstr>
      <vt:lpstr>Presentación de PowerPoint</vt:lpstr>
      <vt:lpstr>Presentación de PowerPoint</vt:lpstr>
      <vt:lpstr>Ejemplo Ejercicio (Resuelto):</vt:lpstr>
      <vt:lpstr>Ejercicio Resuelto</vt:lpstr>
      <vt:lpstr>Presentación de PowerPoint</vt:lpstr>
      <vt:lpstr>Ejercicio</vt:lpstr>
      <vt:lpstr>El Reto: Vamos a programar el sistema de una bodega que procesa pedidos de clientes.</vt:lpstr>
      <vt:lpstr>Presentación de PowerPoint</vt:lpstr>
      <vt:lpstr>Presentación de PowerPoint</vt:lpstr>
      <vt:lpstr>Presentación de PowerPoint</vt:lpstr>
      <vt:lpstr>Tienes la siguiente lista de estudiantes: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Listas, tuplas y diccionarios</dc:title>
  <dc:creator>Patricio Ignacio Carrasco Zura</dc:creator>
  <cp:lastModifiedBy>Patricio Ignacio Carrasco Zura</cp:lastModifiedBy>
  <cp:revision>2</cp:revision>
  <dcterms:created xsi:type="dcterms:W3CDTF">2026-04-07T21:11:28Z</dcterms:created>
  <dcterms:modified xsi:type="dcterms:W3CDTF">2026-04-12T02:00:07Z</dcterms:modified>
</cp:coreProperties>
</file>