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21"/>
  </p:notesMasterIdLst>
  <p:handoutMasterIdLst>
    <p:handoutMasterId r:id="rId22"/>
  </p:handoutMasterIdLst>
  <p:sldIdLst>
    <p:sldId id="334" r:id="rId5"/>
    <p:sldId id="316" r:id="rId6"/>
    <p:sldId id="337" r:id="rId7"/>
    <p:sldId id="343" r:id="rId8"/>
    <p:sldId id="342" r:id="rId9"/>
    <p:sldId id="345" r:id="rId10"/>
    <p:sldId id="346" r:id="rId11"/>
    <p:sldId id="353" r:id="rId12"/>
    <p:sldId id="347" r:id="rId13"/>
    <p:sldId id="336" r:id="rId14"/>
    <p:sldId id="344" r:id="rId15"/>
    <p:sldId id="348" r:id="rId16"/>
    <p:sldId id="349" r:id="rId17"/>
    <p:sldId id="352" r:id="rId18"/>
    <p:sldId id="351" r:id="rId19"/>
    <p:sldId id="350" r:id="rId2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4" autoAdjust="0"/>
    <p:restoredTop sz="84967" autoAdjust="0"/>
  </p:normalViewPr>
  <p:slideViewPr>
    <p:cSldViewPr snapToGrid="0">
      <p:cViewPr varScale="1">
        <p:scale>
          <a:sx n="108" d="100"/>
          <a:sy n="108" d="100"/>
        </p:scale>
        <p:origin x="888" y="120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4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30AAA6EE-6919-4DC7-8439-298F991E723B}" type="datetime1">
              <a:rPr lang="es-ES" smtClean="0"/>
              <a:t>24/03/2026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397C78D2-97D1-4B37-BDD1-08A09BD4CA9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340614D4-F124-4668-AD9D-A3BFE7ECCF6B}" type="datetime1">
              <a:rPr lang="es-ES" smtClean="0"/>
              <a:pPr/>
              <a:t>24/03/2026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D5939589-3E79-4C82-AA4A-FE78234FAA5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10776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solo títu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es-ES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3" name="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n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es-ES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9" name="Marcador de posición de imagen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es-ES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áfico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3" name="Gráfico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7" name="Gráfico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es-ES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3" name="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3" name="Marcador de posición de imagen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es-ES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es-ES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es-ES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3" name="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5" name="Marcador de posición de imagen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es-ES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es-ES" sz="4000" b="1" cap="all" spc="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es-ES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es-ES" sz="1800"/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es-ES" sz="1800"/>
            </a:lvl1pPr>
            <a:lvl2pPr marL="228600">
              <a:defRPr lang="es-ES" sz="1600"/>
            </a:lvl2pPr>
            <a:lvl3pPr marL="457200">
              <a:defRPr lang="es-ES" sz="1400"/>
            </a:lvl3pPr>
            <a:lvl4pPr marL="685800">
              <a:defRPr lang="es-ES" sz="1200"/>
            </a:lvl4pPr>
            <a:lvl5pPr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áfico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9" name="Gráfico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4" name="Marcador de pie de página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+ diapositiva de subtítu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es-ES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es-ES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3" name="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es-ES" sz="4000" b="1" cap="all" spc="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es-ES" sz="1800"/>
            </a:lvl1pPr>
            <a:lvl2pPr marL="228600">
              <a:spcBef>
                <a:spcPts val="1200"/>
              </a:spcBef>
              <a:defRPr lang="es-ES" sz="1800"/>
            </a:lvl2pPr>
            <a:lvl3pPr marL="685800">
              <a:spcBef>
                <a:spcPts val="1200"/>
              </a:spcBef>
              <a:defRPr lang="es-ES" sz="1800"/>
            </a:lvl3pPr>
            <a:lvl4pPr marL="1143000">
              <a:spcBef>
                <a:spcPts val="1200"/>
              </a:spcBef>
              <a:defRPr lang="es-ES" sz="1800"/>
            </a:lvl4pPr>
            <a:lvl5pPr marL="1600200">
              <a:spcBef>
                <a:spcPts val="12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es-ES" sz="1800"/>
            </a:lvl1pPr>
            <a:lvl2pPr marL="228600">
              <a:spcBef>
                <a:spcPts val="1200"/>
              </a:spcBef>
              <a:defRPr lang="es-ES" sz="1800"/>
            </a:lvl2pPr>
            <a:lvl3pPr marL="685800">
              <a:spcBef>
                <a:spcPts val="1200"/>
              </a:spcBef>
              <a:defRPr lang="es-ES" sz="1800"/>
            </a:lvl3pPr>
            <a:lvl4pPr marL="1143000">
              <a:spcBef>
                <a:spcPts val="1200"/>
              </a:spcBef>
              <a:defRPr lang="es-ES" sz="1800"/>
            </a:lvl4pPr>
            <a:lvl5pPr marL="1600200">
              <a:spcBef>
                <a:spcPts val="12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áfico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4" name="Gráfico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6" name="Gráfico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es-ES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22" name="Marcador de número de diapositiva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contenido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es-ES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es-ES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es-ES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es-ES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es-ES" sz="1800"/>
            </a:lvl1pPr>
            <a:lvl2pPr marL="457200" indent="0">
              <a:spcBef>
                <a:spcPts val="1200"/>
              </a:spcBef>
              <a:buNone/>
              <a:defRPr lang="es-ES" sz="1600"/>
            </a:lvl2pPr>
            <a:lvl3pPr marL="914400" indent="0">
              <a:spcBef>
                <a:spcPts val="1200"/>
              </a:spcBef>
              <a:buNone/>
              <a:defRPr lang="es-ES" sz="1400"/>
            </a:lvl3pPr>
            <a:lvl4pPr marL="1371600" indent="0">
              <a:spcBef>
                <a:spcPts val="1200"/>
              </a:spcBef>
              <a:buNone/>
              <a:defRPr lang="es-ES" sz="1200"/>
            </a:lvl4pPr>
            <a:lvl5pPr marL="1828800" indent="0">
              <a:spcBef>
                <a:spcPts val="1200"/>
              </a:spcBef>
              <a:buNone/>
              <a:defRPr lang="es-ES" sz="12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es-ES" sz="1800"/>
            </a:lvl1pPr>
            <a:lvl2pPr>
              <a:spcBef>
                <a:spcPts val="1200"/>
              </a:spcBef>
              <a:defRPr lang="es-ES" sz="1600"/>
            </a:lvl2pPr>
            <a:lvl3pPr>
              <a:spcBef>
                <a:spcPts val="1200"/>
              </a:spcBef>
              <a:defRPr lang="es-ES" sz="1400"/>
            </a:lvl3pPr>
            <a:lvl4pPr>
              <a:spcBef>
                <a:spcPts val="1200"/>
              </a:spcBef>
              <a:defRPr lang="es-ES" sz="1200"/>
            </a:lvl4pPr>
            <a:lvl5pPr>
              <a:spcBef>
                <a:spcPts val="1200"/>
              </a:spcBef>
              <a:defRPr lang="es-ES" sz="12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1" name="Marcador de pie de página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es-ES" sz="4000" b="1" i="0" cap="all" spc="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es-ES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es-ES" sz="1800"/>
            </a:lvl1pPr>
            <a:lvl2pPr marL="228600">
              <a:lnSpc>
                <a:spcPct val="110000"/>
              </a:lnSpc>
              <a:defRPr lang="es-ES" sz="1600"/>
            </a:lvl2pPr>
            <a:lvl3pPr marL="457200">
              <a:lnSpc>
                <a:spcPct val="110000"/>
              </a:lnSpc>
              <a:defRPr lang="es-ES" sz="1400"/>
            </a:lvl3pPr>
            <a:lvl4pPr marL="685800">
              <a:lnSpc>
                <a:spcPct val="110000"/>
              </a:lnSpc>
              <a:defRPr lang="es-ES" sz="1200"/>
            </a:lvl4pPr>
            <a:lvl5pPr marL="914400">
              <a:lnSpc>
                <a:spcPct val="110000"/>
              </a:lnSpc>
              <a:defRPr lang="es-ES" sz="12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  <p:sp>
        <p:nvSpPr>
          <p:cNvPr id="10" name="Marcador de pie de página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es-ES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6" name="Marcador de número de diapositiva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es-ES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es-ES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es-ES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es-ES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es-ES" sz="1200">
                <a:solidFill>
                  <a:schemeClr val="tx1"/>
                </a:solidFill>
              </a:defRPr>
            </a:lvl4pPr>
            <a:lvl5pPr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4" name="Marcador de pie de página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es-ES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22" name="Marcador de número de diapositiva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es-ES" sz="1800"/>
            </a:lvl1pPr>
            <a:lvl2pPr marL="457200">
              <a:spcBef>
                <a:spcPts val="1200"/>
              </a:spcBef>
              <a:defRPr lang="es-ES" sz="1800"/>
            </a:lvl2pPr>
            <a:lvl3pPr marL="914400">
              <a:spcBef>
                <a:spcPts val="1200"/>
              </a:spcBef>
              <a:defRPr lang="es-ES" sz="1800"/>
            </a:lvl3pPr>
            <a:lvl4pPr marL="1371600">
              <a:spcBef>
                <a:spcPts val="1200"/>
              </a:spcBef>
              <a:defRPr lang="es-ES" sz="1800"/>
            </a:lvl4pPr>
            <a:lvl5pPr marL="1828800">
              <a:spcBef>
                <a:spcPts val="12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es-ES" sz="1800"/>
            </a:lvl1pPr>
            <a:lvl2pPr>
              <a:spcBef>
                <a:spcPts val="1200"/>
              </a:spcBef>
              <a:defRPr lang="es-ES" sz="1800"/>
            </a:lvl2pPr>
            <a:lvl3pPr>
              <a:spcBef>
                <a:spcPts val="1200"/>
              </a:spcBef>
              <a:defRPr lang="es-ES" sz="1800"/>
            </a:lvl3pPr>
            <a:lvl4pPr>
              <a:spcBef>
                <a:spcPts val="1200"/>
              </a:spcBef>
              <a:defRPr lang="es-ES" sz="1800"/>
            </a:lvl4pPr>
            <a:lvl5pPr>
              <a:spcBef>
                <a:spcPts val="12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áfico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7" name="Gráfico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8" name="Gráfico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21" name="Marcador de pie de página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áfico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6" name="Gráfico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7" name="Gráfico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es-ES" sz="4000" b="1" cap="all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rbujas de imagen y título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es-ES" sz="48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7" name="Marcador de posición de imagen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es-ES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áfico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5" name="Gráfico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6" name="Gráfico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t>‹Nº›</a:t>
            </a:fld>
            <a:endParaRPr lang="es-ES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es-ES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es-ES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Clase 5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bucle </a:t>
            </a:r>
            <a:r>
              <a:rPr lang="es-ES" dirty="0" err="1"/>
              <a:t>while</a:t>
            </a:r>
            <a:endParaRPr lang="es-ES" dirty="0"/>
          </a:p>
        </p:txBody>
      </p:sp>
      <p:pic>
        <p:nvPicPr>
          <p:cNvPr id="2050" name="Picture 2" descr="Top memes de Ciclo Infinito en español :) Memedroid">
            <a:extLst>
              <a:ext uri="{FF2B5EF4-FFF2-40B4-BE49-F238E27FC236}">
                <a16:creationId xmlns:a16="http://schemas.microsoft.com/office/drawing/2014/main" id="{C09BF384-15B1-9C52-2EAE-6EF15F2E0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9" r="3144" b="3"/>
          <a:stretch>
            <a:fillRect/>
          </a:stretch>
        </p:blipFill>
        <p:spPr bwMode="auto">
          <a:xfrm>
            <a:off x="7981292" y="3008375"/>
            <a:ext cx="3219937" cy="321994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544" y="614202"/>
            <a:ext cx="5403495" cy="113469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Aprendizaje esperado</a:t>
            </a:r>
          </a:p>
        </p:txBody>
      </p:sp>
      <p:pic>
        <p:nvPicPr>
          <p:cNvPr id="6" name="Marcador de posición de imagen 5" descr="Montañas al atardecer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t="21" b="21"/>
          <a:stretch/>
        </p:blipFill>
        <p:spPr/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Definición</a:t>
            </a:r>
          </a:p>
          <a:p>
            <a:pPr rtl="0"/>
            <a:r>
              <a:rPr lang="es-ES" dirty="0"/>
              <a:t>Estructura</a:t>
            </a:r>
          </a:p>
          <a:p>
            <a:pPr rtl="0"/>
            <a:r>
              <a:rPr lang="es-ES" dirty="0"/>
              <a:t>Ejemplos</a:t>
            </a:r>
          </a:p>
          <a:p>
            <a:pPr rtl="0"/>
            <a:r>
              <a:rPr lang="es-ES" dirty="0"/>
              <a:t>Casos de uso</a:t>
            </a:r>
          </a:p>
          <a:p>
            <a:pPr rtl="0"/>
            <a:r>
              <a:rPr lang="es-ES" dirty="0"/>
              <a:t>Ejercicios</a:t>
            </a:r>
          </a:p>
          <a:p>
            <a:pPr rtl="0"/>
            <a:endParaRPr lang="es-ES" dirty="0"/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3336" y="1713974"/>
            <a:ext cx="7109238" cy="4287331"/>
          </a:xfrm>
        </p:spPr>
        <p:txBody>
          <a:bodyPr rtlCol="0"/>
          <a:lstStyle>
            <a:defPPr>
              <a:defRPr lang="es-ES"/>
            </a:defPPr>
          </a:lstStyle>
          <a:p>
            <a:pPr>
              <a:lnSpc>
                <a:spcPct val="100000"/>
              </a:lnSpc>
            </a:pPr>
            <a:r>
              <a:rPr lang="es-ES" sz="2400" dirty="0"/>
              <a:t>El bucle </a:t>
            </a:r>
            <a:r>
              <a:rPr lang="es-ES" sz="2400" dirty="0" err="1"/>
              <a:t>while</a:t>
            </a:r>
            <a:r>
              <a:rPr lang="es-ES" sz="2400" dirty="0"/>
              <a:t> es el motor que permite que un programa se mantenga "vivo". </a:t>
            </a:r>
            <a:br>
              <a:rPr lang="es-ES" sz="2400" dirty="0"/>
            </a:br>
            <a:r>
              <a:rPr lang="es-ES" sz="2400" dirty="0"/>
              <a:t>Hasta ahora, tus programas se ejecutaban una vez y se cerraban; </a:t>
            </a:r>
            <a:br>
              <a:rPr lang="es-ES" sz="2400" dirty="0"/>
            </a:br>
            <a:r>
              <a:rPr lang="es-ES" sz="2400" dirty="0"/>
              <a:t>con el </a:t>
            </a:r>
            <a:r>
              <a:rPr lang="es-ES" sz="2400" dirty="0" err="1"/>
              <a:t>while</a:t>
            </a:r>
            <a:r>
              <a:rPr lang="es-ES" sz="2400" dirty="0"/>
              <a:t>, el código se repite mientras una condición sea verdadera.</a:t>
            </a:r>
          </a:p>
        </p:txBody>
      </p:sp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68171-F501-5EC9-8849-5D0FE73AE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640080"/>
            <a:ext cx="10302240" cy="806980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CL" dirty="0"/>
              <a:t>Definición y Analogía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8A9D03-6CF8-D31E-2E06-88AEBCEF7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8631" y="1713391"/>
            <a:ext cx="10367345" cy="4296792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E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El </a:t>
            </a:r>
            <a:r>
              <a:rPr lang="es-ES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while</a:t>
            </a:r>
            <a:r>
              <a:rPr lang="es-E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funciona como un reloj despertador </a:t>
            </a:r>
            <a:r>
              <a:rPr lang="es-ES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con botón de repetición</a:t>
            </a:r>
            <a:r>
              <a:rPr lang="es-E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: "Mientras no me levante, sigue sonando la alarma".</a:t>
            </a:r>
          </a:p>
          <a:p>
            <a:endParaRPr lang="es-ES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s-ES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La Regla de Oro del </a:t>
            </a:r>
            <a:r>
              <a:rPr lang="es-ES" b="1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While</a:t>
            </a:r>
            <a:r>
              <a:rPr lang="es-ES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:</a:t>
            </a:r>
            <a:r>
              <a:rPr lang="es-E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</a:p>
          <a:p>
            <a:r>
              <a:rPr lang="es-E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Todo bucle </a:t>
            </a:r>
            <a:r>
              <a:rPr lang="es-ES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while</a:t>
            </a:r>
            <a:r>
              <a:rPr lang="es-E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necesita tres cosas para no romperse:</a:t>
            </a:r>
          </a:p>
          <a:p>
            <a:r>
              <a:rPr lang="es-ES" b="1" i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Inicio:</a:t>
            </a:r>
            <a:r>
              <a:rPr lang="es-ES" i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s-E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Una variable con un valor inicial.</a:t>
            </a:r>
          </a:p>
          <a:p>
            <a:r>
              <a:rPr lang="es-ES" b="1" i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Condición:</a:t>
            </a:r>
            <a:r>
              <a:rPr lang="es-ES" i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s-E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Una pregunta que debe ser cierta para que el bucle siga.</a:t>
            </a:r>
          </a:p>
          <a:p>
            <a:r>
              <a:rPr lang="es-ES" b="1" i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Actualización:</a:t>
            </a:r>
            <a:r>
              <a:rPr lang="es-ES" i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s-E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Algo que cambie dentro del bucle para que en algún momento la condición sea falsa (y el bucle termine).</a:t>
            </a:r>
          </a:p>
          <a:p>
            <a:pPr rtl="0"/>
            <a:endParaRPr lang="es-ES" sz="28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75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0" y="343122"/>
            <a:ext cx="7498080" cy="59391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Estructura básica </a:t>
            </a:r>
          </a:p>
        </p:txBody>
      </p:sp>
      <p:pic>
        <p:nvPicPr>
          <p:cNvPr id="13" name="Marcador de posición de imagen 12" descr="Una cordillera con nieve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7701" y="1795399"/>
            <a:ext cx="8416031" cy="3025510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contador = 1 #Inicio, de donde parto a contar</a:t>
            </a:r>
          </a:p>
          <a:p>
            <a:endParaRPr lang="es-ES" dirty="0"/>
          </a:p>
          <a:p>
            <a:r>
              <a:rPr lang="es-ES" dirty="0" err="1"/>
              <a:t>while</a:t>
            </a:r>
            <a:r>
              <a:rPr lang="es-ES" dirty="0"/>
              <a:t> contador &lt;= 5: #Condición (¿Es menor o igual a 5?) hasta donde llego</a:t>
            </a:r>
          </a:p>
          <a:p>
            <a:r>
              <a:rPr lang="es-ES" dirty="0"/>
              <a:t>    </a:t>
            </a:r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f"Vuelta</a:t>
            </a:r>
            <a:r>
              <a:rPr lang="es-ES" dirty="0"/>
              <a:t> número {contador}")</a:t>
            </a:r>
          </a:p>
          <a:p>
            <a:r>
              <a:rPr lang="es-ES" dirty="0"/>
              <a:t>    contador += 1 #Actualización (Sumamos 1 en cada vuelta)</a:t>
            </a:r>
          </a:p>
          <a:p>
            <a:endParaRPr lang="es-ES" dirty="0"/>
          </a:p>
          <a:p>
            <a:r>
              <a:rPr lang="es-ES" dirty="0" err="1"/>
              <a:t>print</a:t>
            </a:r>
            <a:r>
              <a:rPr lang="es-ES" dirty="0"/>
              <a:t>("¡Carrera terminada!")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4D5F56D-9F84-A200-0319-2D95AC640B3C}"/>
              </a:ext>
            </a:extLst>
          </p:cNvPr>
          <p:cNvSpPr txBox="1"/>
          <p:nvPr/>
        </p:nvSpPr>
        <p:spPr>
          <a:xfrm>
            <a:off x="4183602" y="1011801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Este es el ejemplo "hola mundo" de los bucles.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03F58CD-B598-58D5-6F14-E9C3A1CBB9E4}"/>
              </a:ext>
            </a:extLst>
          </p:cNvPr>
          <p:cNvSpPr txBox="1"/>
          <p:nvPr/>
        </p:nvSpPr>
        <p:spPr>
          <a:xfrm>
            <a:off x="1191827" y="5500689"/>
            <a:ext cx="100295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⚠️ Peligro - El Bucle Infinito:</a:t>
            </a:r>
            <a:r>
              <a:rPr lang="es-ES" dirty="0"/>
              <a:t> Si olvidas el </a:t>
            </a:r>
            <a:r>
              <a:rPr lang="es-ES" b="1" i="1" dirty="0">
                <a:latin typeface="Arial" panose="020B0604020202020204" pitchFamily="34" charset="0"/>
                <a:cs typeface="Arial" panose="020B0604020202020204" pitchFamily="34" charset="0"/>
              </a:rPr>
              <a:t>contador</a:t>
            </a:r>
            <a:r>
              <a:rPr lang="es-ES" dirty="0">
                <a:latin typeface="Courier New" panose="02070309020205020404" pitchFamily="49" charset="0"/>
              </a:rPr>
              <a:t> += 1</a:t>
            </a:r>
            <a:r>
              <a:rPr lang="es-ES" dirty="0"/>
              <a:t>, la computadora preguntará eternamente "¿Es 1 menor a 5?" y como siempre es verdad, el programa se quedará pegado. ¡Es como un hámster que no puede bajar de la rueda!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3BBEB-D7B7-FE70-602D-3D64346C5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11" y="640080"/>
            <a:ext cx="10662969" cy="895757"/>
          </a:xfrm>
        </p:spPr>
        <p:txBody>
          <a:bodyPr/>
          <a:lstStyle/>
          <a:p>
            <a:r>
              <a:rPr lang="es-ES" sz="3200" dirty="0"/>
              <a:t>. El uso de break y continue en el </a:t>
            </a:r>
            <a:r>
              <a:rPr lang="es-ES" sz="3200" dirty="0" err="1"/>
              <a:t>while</a:t>
            </a:r>
            <a:endParaRPr lang="es-CL" sz="32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601481-CBD2-E1D6-6617-D24CD0A5B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485" y="1811045"/>
            <a:ext cx="10414395" cy="4406875"/>
          </a:xfrm>
        </p:spPr>
        <p:txBody>
          <a:bodyPr/>
          <a:lstStyle/>
          <a:p>
            <a:r>
              <a:rPr lang="es-ES" b="1" dirty="0"/>
              <a:t>break (El Freno de Emergencia)</a:t>
            </a:r>
          </a:p>
          <a:p>
            <a:r>
              <a:rPr lang="es-ES" dirty="0"/>
              <a:t>Sirve para salir del bucle </a:t>
            </a:r>
            <a:r>
              <a:rPr lang="es-ES" b="1" dirty="0"/>
              <a:t>inmediatamente</a:t>
            </a:r>
            <a:r>
              <a:rPr lang="es-ES" dirty="0"/>
              <a:t>, sin importar si la condición del </a:t>
            </a:r>
            <a:r>
              <a:rPr lang="es-ES" dirty="0" err="1"/>
              <a:t>while</a:t>
            </a:r>
            <a:r>
              <a:rPr lang="es-ES" dirty="0"/>
              <a:t> sigue siendo verdadera.</a:t>
            </a:r>
          </a:p>
          <a:p>
            <a:endParaRPr lang="es-ES" dirty="0"/>
          </a:p>
          <a:p>
            <a:r>
              <a:rPr lang="es-ES" dirty="0" err="1"/>
              <a:t>while</a:t>
            </a:r>
            <a:r>
              <a:rPr lang="es-ES" dirty="0"/>
              <a:t> True: # Bucle infinito a propósito</a:t>
            </a:r>
          </a:p>
          <a:p>
            <a:r>
              <a:rPr lang="es-ES" dirty="0"/>
              <a:t>    dato = input("Escribe algo (o 'salir'): ")</a:t>
            </a:r>
          </a:p>
          <a:p>
            <a:r>
              <a:rPr lang="es-ES" dirty="0"/>
              <a:t>    </a:t>
            </a:r>
            <a:r>
              <a:rPr lang="es-ES" dirty="0" err="1"/>
              <a:t>if</a:t>
            </a:r>
            <a:r>
              <a:rPr lang="es-ES" dirty="0"/>
              <a:t> dato == "salir":</a:t>
            </a:r>
          </a:p>
          <a:p>
            <a:r>
              <a:rPr lang="es-ES" dirty="0"/>
              <a:t>        break # Rompe el bucle y sale</a:t>
            </a:r>
          </a:p>
          <a:p>
            <a:r>
              <a:rPr lang="es-ES" dirty="0"/>
              <a:t>    </a:t>
            </a:r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f"Escribiste</a:t>
            </a:r>
            <a:r>
              <a:rPr lang="es-ES" dirty="0"/>
              <a:t>: {dato}")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65404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2D1620-BEA0-82FA-38C8-A2763B2A4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421" y="1279272"/>
            <a:ext cx="10938177" cy="1280160"/>
          </a:xfrm>
        </p:spPr>
        <p:txBody>
          <a:bodyPr/>
          <a:lstStyle/>
          <a:p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Sirve para ignorar el resto del código en la vuelta actual y saltar directo a la siguiente comparación del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Caso de uso: Saltar números impares o ignorar datos inválidos sin cerrar el programa.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CL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67A1C3-120E-B713-2BE2-7B0EAD91F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7930" y="2286889"/>
            <a:ext cx="7498080" cy="4023360"/>
          </a:xfrm>
        </p:spPr>
        <p:txBody>
          <a:bodyPr/>
          <a:lstStyle/>
          <a:p>
            <a:r>
              <a:rPr lang="es-ES" dirty="0"/>
              <a:t>n = 0</a:t>
            </a:r>
          </a:p>
          <a:p>
            <a:r>
              <a:rPr lang="es-ES" dirty="0" err="1"/>
              <a:t>while</a:t>
            </a:r>
            <a:r>
              <a:rPr lang="es-ES" dirty="0"/>
              <a:t> n &lt; 5:</a:t>
            </a:r>
          </a:p>
          <a:p>
            <a:r>
              <a:rPr lang="es-ES" dirty="0"/>
              <a:t>    n += 1</a:t>
            </a:r>
          </a:p>
          <a:p>
            <a:r>
              <a:rPr lang="es-ES" dirty="0"/>
              <a:t>    </a:t>
            </a:r>
            <a:r>
              <a:rPr lang="es-ES" dirty="0" err="1"/>
              <a:t>if</a:t>
            </a:r>
            <a:r>
              <a:rPr lang="es-ES" dirty="0"/>
              <a:t> n == 3:</a:t>
            </a:r>
          </a:p>
          <a:p>
            <a:r>
              <a:rPr lang="es-ES" dirty="0"/>
              <a:t>        continue # Salta el </a:t>
            </a:r>
            <a:r>
              <a:rPr lang="es-ES" dirty="0" err="1"/>
              <a:t>print</a:t>
            </a:r>
            <a:r>
              <a:rPr lang="es-ES" dirty="0"/>
              <a:t> del 3 y vuelve arriba</a:t>
            </a:r>
          </a:p>
          <a:p>
            <a:r>
              <a:rPr lang="es-ES" dirty="0"/>
              <a:t>    </a:t>
            </a:r>
            <a:r>
              <a:rPr lang="es-ES" dirty="0" err="1"/>
              <a:t>print</a:t>
            </a:r>
            <a:r>
              <a:rPr lang="es-ES" dirty="0"/>
              <a:t>(n) </a:t>
            </a:r>
          </a:p>
          <a:p>
            <a:r>
              <a:rPr lang="es-ES" dirty="0"/>
              <a:t># Resultado: 1, 2, 4, 5 (el 3 se lo saltó)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EC6330C-B108-1C89-C4D8-C6B72A36C113}"/>
              </a:ext>
            </a:extLst>
          </p:cNvPr>
          <p:cNvSpPr txBox="1"/>
          <p:nvPr/>
        </p:nvSpPr>
        <p:spPr>
          <a:xfrm>
            <a:off x="3881761" y="590798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/>
              <a:t>continue (El Salto)</a:t>
            </a:r>
            <a:endParaRPr lang="es-CL" sz="2800" b="1" dirty="0"/>
          </a:p>
        </p:txBody>
      </p:sp>
    </p:spTree>
    <p:extLst>
      <p:ext uri="{BB962C8B-B14F-4D97-AF65-F5344CB8AC3E}">
        <p14:creationId xmlns:p14="http://schemas.microsoft.com/office/powerpoint/2010/main" val="168414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D69CD45-538D-DF76-ABFB-A0DF96146370}"/>
              </a:ext>
            </a:extLst>
          </p:cNvPr>
          <p:cNvSpPr txBox="1"/>
          <p:nvPr/>
        </p:nvSpPr>
        <p:spPr>
          <a:xfrm>
            <a:off x="3979414" y="592987"/>
            <a:ext cx="76592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Control de Flujo en Bucles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>
                <a:latin typeface="Courier New" panose="02070309020205020404" pitchFamily="49" charset="0"/>
              </a:rPr>
              <a:t>break</a:t>
            </a:r>
            <a:r>
              <a:rPr lang="es-ES" dirty="0"/>
              <a:t>: "Rompe" el bucle y sale de él inmediatamente.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>
                <a:latin typeface="Courier New" panose="02070309020205020404" pitchFamily="49" charset="0"/>
              </a:rPr>
              <a:t>continue</a:t>
            </a:r>
            <a:r>
              <a:rPr lang="es-ES" b="1" dirty="0"/>
              <a:t>: </a:t>
            </a:r>
            <a:r>
              <a:rPr lang="es-ES" dirty="0"/>
              <a:t>"Salta" el código restante de la vuelta actual y va directo a la siguiente comparación.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C0AED9C-EEB9-7A73-57BD-D4DC20820F1A}"/>
              </a:ext>
            </a:extLst>
          </p:cNvPr>
          <p:cNvSpPr txBox="1"/>
          <p:nvPr/>
        </p:nvSpPr>
        <p:spPr>
          <a:xfrm>
            <a:off x="3048740" y="3703714"/>
            <a:ext cx="6094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 err="1"/>
              <a:t>while</a:t>
            </a:r>
            <a:r>
              <a:rPr lang="es-CL" dirty="0"/>
              <a:t> True:</a:t>
            </a:r>
          </a:p>
          <a:p>
            <a:r>
              <a:rPr lang="es-CL" dirty="0"/>
              <a:t>    n = </a:t>
            </a:r>
            <a:r>
              <a:rPr lang="es-CL" dirty="0" err="1"/>
              <a:t>int</a:t>
            </a:r>
            <a:r>
              <a:rPr lang="es-CL" dirty="0"/>
              <a:t>(input("Ingresa un número (0 para saltar, -1 para salir): "))</a:t>
            </a:r>
          </a:p>
          <a:p>
            <a:r>
              <a:rPr lang="es-CL" dirty="0"/>
              <a:t>    </a:t>
            </a:r>
            <a:r>
              <a:rPr lang="es-CL" dirty="0" err="1"/>
              <a:t>if</a:t>
            </a:r>
            <a:r>
              <a:rPr lang="es-CL" dirty="0"/>
              <a:t> n == -1: break</a:t>
            </a:r>
          </a:p>
          <a:p>
            <a:r>
              <a:rPr lang="es-CL" dirty="0"/>
              <a:t>    </a:t>
            </a:r>
            <a:r>
              <a:rPr lang="es-CL" dirty="0" err="1"/>
              <a:t>if</a:t>
            </a:r>
            <a:r>
              <a:rPr lang="es-CL" dirty="0"/>
              <a:t> n == 0: continue</a:t>
            </a:r>
          </a:p>
          <a:p>
            <a:r>
              <a:rPr lang="es-CL" dirty="0"/>
              <a:t>    </a:t>
            </a:r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f"Procesando</a:t>
            </a:r>
            <a:r>
              <a:rPr lang="es-CL" dirty="0"/>
              <a:t> {n}...")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B21B25B-E3A3-D99E-634D-90C98ACD124E}"/>
              </a:ext>
            </a:extLst>
          </p:cNvPr>
          <p:cNvSpPr txBox="1"/>
          <p:nvPr/>
        </p:nvSpPr>
        <p:spPr>
          <a:xfrm>
            <a:off x="914399" y="2031150"/>
            <a:ext cx="945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s-ES" b="1" dirty="0">
                <a:latin typeface="Courier New" panose="02070309020205020404" pitchFamily="49" charset="0"/>
              </a:rPr>
              <a:t>continue</a:t>
            </a:r>
            <a:r>
              <a:rPr lang="es-ES" b="1" dirty="0"/>
              <a:t> es como el "</a:t>
            </a:r>
            <a:r>
              <a:rPr lang="es-ES" b="1" dirty="0" err="1"/>
              <a:t>Skip</a:t>
            </a:r>
            <a:r>
              <a:rPr lang="es-ES" b="1" dirty="0"/>
              <a:t>" (Saltar anuncio):</a:t>
            </a:r>
            <a:r>
              <a:rPr lang="es-ES" dirty="0"/>
              <a:t> No te sales de YouTube, solo te saltas ese pedacito que no quieres ver y pasas al video (la siguiente vuelta).</a:t>
            </a:r>
          </a:p>
          <a:p>
            <a:pPr>
              <a:buFont typeface="+mj-lt"/>
              <a:buAutoNum type="arabicPeriod"/>
            </a:pPr>
            <a:r>
              <a:rPr lang="es-ES" b="1" dirty="0">
                <a:latin typeface="Courier New" panose="02070309020205020404" pitchFamily="49" charset="0"/>
              </a:rPr>
              <a:t>break</a:t>
            </a:r>
            <a:r>
              <a:rPr lang="es-ES" b="1" dirty="0"/>
              <a:t> es como el botón de "Apagar TV":</a:t>
            </a:r>
            <a:r>
              <a:rPr lang="es-ES" dirty="0"/>
              <a:t> No importa en qué parte de la película ibas, todo se detiene y te vas a negro.</a:t>
            </a:r>
          </a:p>
        </p:txBody>
      </p:sp>
      <p:pic>
        <p:nvPicPr>
          <p:cNvPr id="3074" name="Picture 2" descr="The True Form of while (1==1) : r/ProgrammerHumor">
            <a:extLst>
              <a:ext uri="{FF2B5EF4-FFF2-40B4-BE49-F238E27FC236}">
                <a16:creationId xmlns:a16="http://schemas.microsoft.com/office/drawing/2014/main" id="{B5AA6118-6716-A48C-AA6F-79B25C378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3087" y="4072361"/>
            <a:ext cx="2494612" cy="277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5173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8F616DC4-C1CE-7BC4-B0CD-8A12E28E3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640080"/>
            <a:ext cx="4815836" cy="2103120"/>
          </a:xfr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s-ES" b="1" kern="1200" cap="all" spc="0" baseline="0">
                <a:latin typeface="+mj-lt"/>
                <a:ea typeface="+mj-ea"/>
                <a:cs typeface="+mj-cs"/>
              </a:rPr>
              <a:t>Diferencia Crítica: while vs if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1301520-6158-806A-5FD5-B5007321CDB0}"/>
              </a:ext>
            </a:extLst>
          </p:cNvPr>
          <p:cNvSpPr txBox="1"/>
          <p:nvPr/>
        </p:nvSpPr>
        <p:spPr>
          <a:xfrm>
            <a:off x="6531427" y="640080"/>
            <a:ext cx="5122889" cy="210312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lang="es-ES" dirty="0"/>
              <a:t>Muchos confunden un </a:t>
            </a:r>
            <a:r>
              <a:rPr lang="es-ES" dirty="0" err="1"/>
              <a:t>if</a:t>
            </a:r>
            <a:r>
              <a:rPr lang="es-ES" dirty="0"/>
              <a:t> con un </a:t>
            </a:r>
            <a:r>
              <a:rPr lang="es-ES" dirty="0" err="1"/>
              <a:t>while</a:t>
            </a:r>
            <a:r>
              <a:rPr lang="es-ES" dirty="0"/>
              <a:t> porque ambos evalúan una condición. La diferencia es el </a:t>
            </a:r>
            <a:r>
              <a:rPr lang="es-ES" b="1" dirty="0"/>
              <a:t>retorno</a:t>
            </a:r>
            <a:r>
              <a:rPr lang="es-ES" dirty="0"/>
              <a:t>:</a:t>
            </a:r>
          </a:p>
        </p:txBody>
      </p:sp>
      <p:graphicFrame>
        <p:nvGraphicFramePr>
          <p:cNvPr id="9" name="Marcador de contenido 8">
            <a:extLst>
              <a:ext uri="{FF2B5EF4-FFF2-40B4-BE49-F238E27FC236}">
                <a16:creationId xmlns:a16="http://schemas.microsoft.com/office/drawing/2014/main" id="{42157CEC-17A0-648A-51A2-6E88EA06029B}"/>
              </a:ext>
            </a:extLst>
          </p:cNvPr>
          <p:cNvGraphicFramePr>
            <a:graphicFrameLocks noGrp="1"/>
          </p:cNvGraphicFramePr>
          <p:nvPr>
            <p:ph idx="21"/>
            <p:extLst>
              <p:ext uri="{D42A27DB-BD31-4B8C-83A1-F6EECF244321}">
                <p14:modId xmlns:p14="http://schemas.microsoft.com/office/powerpoint/2010/main" val="1238122712"/>
              </p:ext>
            </p:extLst>
          </p:nvPr>
        </p:nvGraphicFramePr>
        <p:xfrm>
          <a:off x="1280160" y="3041946"/>
          <a:ext cx="10374154" cy="3160016"/>
        </p:xfrm>
        <a:graphic>
          <a:graphicData uri="http://schemas.openxmlformats.org/drawingml/2006/table">
            <a:tbl>
              <a:tblPr>
                <a:solidFill>
                  <a:srgbClr val="F7F7F7"/>
                </a:solidFill>
              </a:tblPr>
              <a:tblGrid>
                <a:gridCol w="1825521">
                  <a:extLst>
                    <a:ext uri="{9D8B030D-6E8A-4147-A177-3AD203B41FA5}">
                      <a16:colId xmlns:a16="http://schemas.microsoft.com/office/drawing/2014/main" val="2913544989"/>
                    </a:ext>
                  </a:extLst>
                </a:gridCol>
                <a:gridCol w="4009424">
                  <a:extLst>
                    <a:ext uri="{9D8B030D-6E8A-4147-A177-3AD203B41FA5}">
                      <a16:colId xmlns:a16="http://schemas.microsoft.com/office/drawing/2014/main" val="370806699"/>
                    </a:ext>
                  </a:extLst>
                </a:gridCol>
                <a:gridCol w="4539209">
                  <a:extLst>
                    <a:ext uri="{9D8B030D-6E8A-4147-A177-3AD203B41FA5}">
                      <a16:colId xmlns:a16="http://schemas.microsoft.com/office/drawing/2014/main" val="3010018729"/>
                    </a:ext>
                  </a:extLst>
                </a:gridCol>
              </a:tblGrid>
              <a:tr h="8040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Estructura</a:t>
                      </a:r>
                      <a:endParaRPr lang="es-CL" sz="25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40237" marR="175297" marT="233729" marB="1402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¿Qué hace?</a:t>
                      </a:r>
                      <a:endParaRPr lang="es-CL" sz="25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40237" marR="175297" marT="233729" marB="1402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Analogía</a:t>
                      </a:r>
                      <a:endParaRPr lang="es-CL" sz="25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40237" marR="140237" marT="233729" marB="1402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891276"/>
                  </a:ext>
                </a:extLst>
              </a:tr>
              <a:tr h="117799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if</a:t>
                      </a:r>
                      <a:endParaRPr lang="es-CL" sz="25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40237" marR="175297" marT="233729" marB="1402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2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Pregunta una vez y sigue de largo.</a:t>
                      </a:r>
                    </a:p>
                  </a:txBody>
                  <a:tcPr marL="140237" marR="175297" marT="233729" marB="1402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2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Un semáforo: lo miras una vez y pasas.</a:t>
                      </a:r>
                    </a:p>
                  </a:txBody>
                  <a:tcPr marL="140237" marR="140237" marT="233729" marB="1402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437132"/>
                  </a:ext>
                </a:extLst>
              </a:tr>
              <a:tr h="117799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sz="2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while</a:t>
                      </a:r>
                      <a:endParaRPr lang="es-CL" sz="25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40237" marR="175297" marT="233729" marB="1402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2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Pregunta, ejecuta y </a:t>
                      </a:r>
                      <a:r>
                        <a:rPr lang="es-ES" sz="25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vuelve a preguntar</a:t>
                      </a:r>
                      <a:r>
                        <a:rPr lang="es-ES" sz="2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40237" marR="175297" marT="233729" marB="1402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25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Una rotonda: no sales hasta que encuentres tu salida.</a:t>
                      </a:r>
                    </a:p>
                  </a:txBody>
                  <a:tcPr marL="140237" marR="140237" marT="233729" marB="1402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45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6356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3223" y="320483"/>
            <a:ext cx="10302240" cy="185204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Casos de uso del </a:t>
            </a:r>
            <a:r>
              <a:rPr lang="es-ES" dirty="0" err="1"/>
              <a:t>while</a:t>
            </a:r>
            <a:endParaRPr lang="es-ES" dirty="0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4C780BDD-62B7-3E51-C2DE-09259F62C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3226" y="1699023"/>
            <a:ext cx="10302237" cy="1852046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ES" sz="2000" dirty="0"/>
              <a:t>¿Cuándo usamos esto en el mundo real?</a:t>
            </a:r>
          </a:p>
          <a:p>
            <a:r>
              <a:rPr lang="es-ES" sz="2000" b="1" dirty="0"/>
              <a:t>Menús que no se cierran:</a:t>
            </a:r>
            <a:r>
              <a:rPr lang="es-ES" sz="2000" dirty="0"/>
              <a:t> Para que el cajero automático no se apague después de que el usuario vea su saldo.</a:t>
            </a:r>
          </a:p>
          <a:p>
            <a:r>
              <a:rPr lang="es-ES" sz="2000" b="1" dirty="0"/>
              <a:t>Validación de Datos:</a:t>
            </a:r>
            <a:r>
              <a:rPr lang="es-ES" sz="2000" dirty="0"/>
              <a:t> "No te dejo pasar hasta que escribas la contraseña correcta".</a:t>
            </a:r>
          </a:p>
          <a:p>
            <a:r>
              <a:rPr lang="es-ES" sz="2000" b="1" dirty="0"/>
              <a:t>Juegos:</a:t>
            </a:r>
            <a:r>
              <a:rPr lang="es-ES" sz="2000" dirty="0"/>
              <a:t> "Mientras el jugador tenga vida, sigue el juego".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ED72490-C5FC-827A-33C6-160553164B12}"/>
              </a:ext>
            </a:extLst>
          </p:cNvPr>
          <p:cNvSpPr txBox="1"/>
          <p:nvPr/>
        </p:nvSpPr>
        <p:spPr>
          <a:xfrm>
            <a:off x="532660" y="4004815"/>
            <a:ext cx="111059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>
                <a:solidFill>
                  <a:schemeClr val="bg1"/>
                </a:solidFill>
              </a:rPr>
              <a:t>¿Cuándo usarlo y cuándo no?</a:t>
            </a:r>
          </a:p>
          <a:p>
            <a:pPr>
              <a:buNone/>
            </a:pPr>
            <a:endParaRPr lang="es-ES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ÚSALO cuando:</a:t>
            </a:r>
            <a:r>
              <a:rPr lang="es-ES" dirty="0">
                <a:solidFill>
                  <a:schemeClr val="bg1"/>
                </a:solidFill>
              </a:rPr>
              <a:t> No sepas cuántas veces se debe repetir algo. (</a:t>
            </a:r>
            <a:r>
              <a:rPr lang="es-ES" dirty="0" err="1">
                <a:solidFill>
                  <a:schemeClr val="bg1"/>
                </a:solidFill>
              </a:rPr>
              <a:t>Ej</a:t>
            </a:r>
            <a:r>
              <a:rPr lang="es-ES" dirty="0">
                <a:solidFill>
                  <a:schemeClr val="bg1"/>
                </a:solidFill>
              </a:rPr>
              <a:t>: "Preguntar la clave hasta que sea correcta", "Correr el juego hasta que el jugador pierda").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NO LO USES cuando:</a:t>
            </a:r>
            <a:r>
              <a:rPr lang="es-ES" dirty="0">
                <a:solidFill>
                  <a:schemeClr val="bg1"/>
                </a:solidFill>
              </a:rPr>
              <a:t> Conozcas de antemano el número exacto de repeticiones (para eso es mejor el </a:t>
            </a:r>
            <a:r>
              <a:rPr lang="es-ES" b="1" i="1" dirty="0" err="1">
                <a:solidFill>
                  <a:schemeClr val="bg1"/>
                </a:solidFill>
                <a:latin typeface="Courier New" panose="02070309020205020404" pitchFamily="49" charset="0"/>
              </a:rPr>
              <a:t>for</a:t>
            </a:r>
            <a:r>
              <a:rPr lang="es-ES" dirty="0">
                <a:solidFill>
                  <a:schemeClr val="bg1"/>
                </a:solidFill>
              </a:rPr>
              <a:t>, que veremos más adelante).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CUIDADO:</a:t>
            </a:r>
            <a:r>
              <a:rPr lang="es-ES" dirty="0">
                <a:solidFill>
                  <a:schemeClr val="bg1"/>
                </a:solidFill>
              </a:rPr>
              <a:t> Siempre debe haber una línea de código que cambie la condición (un contador o un cambio de variable). Si no, creas un </a:t>
            </a:r>
            <a:r>
              <a:rPr lang="es-ES" b="1" dirty="0">
                <a:solidFill>
                  <a:schemeClr val="bg1"/>
                </a:solidFill>
              </a:rPr>
              <a:t>Bucle Infinito</a:t>
            </a:r>
            <a:r>
              <a:rPr lang="es-ES" dirty="0">
                <a:solidFill>
                  <a:schemeClr val="bg1"/>
                </a:solidFill>
              </a:rPr>
              <a:t>, que consume toda la memoria del computador.</a:t>
            </a:r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E020A-4E9B-9637-41F0-4D0019A50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0673" y="20822"/>
            <a:ext cx="10302240" cy="926023"/>
          </a:xfrm>
        </p:spPr>
        <p:txBody>
          <a:bodyPr/>
          <a:lstStyle/>
          <a:p>
            <a:r>
              <a:rPr lang="es-ES" sz="4400" dirty="0"/>
              <a:t>Ejercicio : "El Menú Infinito"</a:t>
            </a:r>
            <a:endParaRPr lang="es-CL" sz="4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F3A657-02C8-987C-7859-71698491F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99422" y="2183150"/>
            <a:ext cx="1870527" cy="3676111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Este ejercicio une lo que vimos de </a:t>
            </a:r>
            <a:r>
              <a:rPr lang="es-ES" b="1" dirty="0"/>
              <a:t>Switch Case</a:t>
            </a:r>
            <a:r>
              <a:rPr lang="es-ES" dirty="0"/>
              <a:t> con el </a:t>
            </a:r>
            <a:r>
              <a:rPr lang="es-ES" b="1" dirty="0" err="1"/>
              <a:t>While</a:t>
            </a:r>
            <a:r>
              <a:rPr lang="es-ES" dirty="0"/>
              <a:t>. </a:t>
            </a:r>
          </a:p>
          <a:p>
            <a:r>
              <a:rPr lang="es-ES" dirty="0"/>
              <a:t>Es perfecto para que vean cómo se construye una aplicación real.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D5DF9C1-47CF-EF43-F6A4-65B4FBEB0249}"/>
              </a:ext>
            </a:extLst>
          </p:cNvPr>
          <p:cNvSpPr txBox="1"/>
          <p:nvPr/>
        </p:nvSpPr>
        <p:spPr>
          <a:xfrm>
            <a:off x="2370338" y="1216241"/>
            <a:ext cx="9392575" cy="5358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err="1">
                <a:solidFill>
                  <a:schemeClr val="bg1"/>
                </a:solidFill>
              </a:rPr>
              <a:t>opcion</a:t>
            </a:r>
            <a:r>
              <a:rPr lang="es-CL" dirty="0">
                <a:solidFill>
                  <a:schemeClr val="bg1"/>
                </a:solidFill>
              </a:rPr>
              <a:t> = ""</a:t>
            </a:r>
          </a:p>
          <a:p>
            <a:endParaRPr lang="es-CL" dirty="0">
              <a:solidFill>
                <a:schemeClr val="bg1"/>
              </a:solidFill>
            </a:endParaRPr>
          </a:p>
          <a:p>
            <a:r>
              <a:rPr lang="es-CL" dirty="0" err="1">
                <a:solidFill>
                  <a:schemeClr val="bg1"/>
                </a:solidFill>
              </a:rPr>
              <a:t>while</a:t>
            </a:r>
            <a:r>
              <a:rPr lang="es-CL" dirty="0">
                <a:solidFill>
                  <a:schemeClr val="bg1"/>
                </a:solidFill>
              </a:rPr>
              <a:t> </a:t>
            </a:r>
            <a:r>
              <a:rPr lang="es-CL" dirty="0" err="1">
                <a:solidFill>
                  <a:schemeClr val="bg1"/>
                </a:solidFill>
              </a:rPr>
              <a:t>opcion</a:t>
            </a:r>
            <a:r>
              <a:rPr lang="es-CL" dirty="0">
                <a:solidFill>
                  <a:schemeClr val="bg1"/>
                </a:solidFill>
              </a:rPr>
              <a:t> != "3":</a:t>
            </a:r>
          </a:p>
          <a:p>
            <a:r>
              <a:rPr lang="es-CL" dirty="0">
                <a:solidFill>
                  <a:schemeClr val="bg1"/>
                </a:solidFill>
              </a:rPr>
              <a:t>    </a:t>
            </a:r>
            <a:r>
              <a:rPr lang="es-CL" dirty="0" err="1">
                <a:solidFill>
                  <a:schemeClr val="bg1"/>
                </a:solidFill>
              </a:rPr>
              <a:t>print</a:t>
            </a:r>
            <a:r>
              <a:rPr lang="es-CL" dirty="0">
                <a:solidFill>
                  <a:schemeClr val="bg1"/>
                </a:solidFill>
              </a:rPr>
              <a:t>("\n--- MENÚ DE OPCIONES ---")</a:t>
            </a:r>
          </a:p>
          <a:p>
            <a:r>
              <a:rPr lang="es-CL" dirty="0">
                <a:solidFill>
                  <a:schemeClr val="bg1"/>
                </a:solidFill>
              </a:rPr>
              <a:t>    </a:t>
            </a:r>
            <a:r>
              <a:rPr lang="es-CL" dirty="0" err="1">
                <a:solidFill>
                  <a:schemeClr val="bg1"/>
                </a:solidFill>
              </a:rPr>
              <a:t>print</a:t>
            </a:r>
            <a:r>
              <a:rPr lang="es-CL" dirty="0">
                <a:solidFill>
                  <a:schemeClr val="bg1"/>
                </a:solidFill>
              </a:rPr>
              <a:t>("1. Saludar")</a:t>
            </a:r>
          </a:p>
          <a:p>
            <a:r>
              <a:rPr lang="es-CL" dirty="0">
                <a:solidFill>
                  <a:schemeClr val="bg1"/>
                </a:solidFill>
              </a:rPr>
              <a:t>    </a:t>
            </a:r>
            <a:r>
              <a:rPr lang="es-CL" dirty="0" err="1">
                <a:solidFill>
                  <a:schemeClr val="bg1"/>
                </a:solidFill>
              </a:rPr>
              <a:t>print</a:t>
            </a:r>
            <a:r>
              <a:rPr lang="es-CL" dirty="0">
                <a:solidFill>
                  <a:schemeClr val="bg1"/>
                </a:solidFill>
              </a:rPr>
              <a:t>("2. Ver hora")</a:t>
            </a:r>
          </a:p>
          <a:p>
            <a:r>
              <a:rPr lang="es-CL" dirty="0">
                <a:solidFill>
                  <a:schemeClr val="bg1"/>
                </a:solidFill>
              </a:rPr>
              <a:t>    </a:t>
            </a:r>
            <a:r>
              <a:rPr lang="es-CL" dirty="0" err="1">
                <a:solidFill>
                  <a:schemeClr val="bg1"/>
                </a:solidFill>
              </a:rPr>
              <a:t>print</a:t>
            </a:r>
            <a:r>
              <a:rPr lang="es-CL" dirty="0">
                <a:solidFill>
                  <a:schemeClr val="bg1"/>
                </a:solidFill>
              </a:rPr>
              <a:t>("3. Salir")</a:t>
            </a:r>
          </a:p>
          <a:p>
            <a:r>
              <a:rPr lang="es-CL" dirty="0">
                <a:solidFill>
                  <a:schemeClr val="bg1"/>
                </a:solidFill>
              </a:rPr>
              <a:t>    </a:t>
            </a:r>
          </a:p>
          <a:p>
            <a:r>
              <a:rPr lang="es-CL" dirty="0">
                <a:solidFill>
                  <a:schemeClr val="bg1"/>
                </a:solidFill>
              </a:rPr>
              <a:t>    </a:t>
            </a:r>
            <a:r>
              <a:rPr lang="es-CL" dirty="0" err="1">
                <a:solidFill>
                  <a:schemeClr val="bg1"/>
                </a:solidFill>
              </a:rPr>
              <a:t>opcion</a:t>
            </a:r>
            <a:r>
              <a:rPr lang="es-CL" dirty="0">
                <a:solidFill>
                  <a:schemeClr val="bg1"/>
                </a:solidFill>
              </a:rPr>
              <a:t> = input("Elige una opción: ")</a:t>
            </a:r>
          </a:p>
          <a:p>
            <a:r>
              <a:rPr lang="es-CL" dirty="0">
                <a:solidFill>
                  <a:schemeClr val="bg1"/>
                </a:solidFill>
              </a:rPr>
              <a:t>    </a:t>
            </a:r>
          </a:p>
          <a:p>
            <a:r>
              <a:rPr lang="es-CL" dirty="0">
                <a:solidFill>
                  <a:schemeClr val="bg1"/>
                </a:solidFill>
              </a:rPr>
              <a:t>    match </a:t>
            </a:r>
            <a:r>
              <a:rPr lang="es-CL" dirty="0" err="1">
                <a:solidFill>
                  <a:schemeClr val="bg1"/>
                </a:solidFill>
              </a:rPr>
              <a:t>opcion</a:t>
            </a:r>
            <a:r>
              <a:rPr lang="es-CL" dirty="0">
                <a:solidFill>
                  <a:schemeClr val="bg1"/>
                </a:solidFill>
              </a:rPr>
              <a:t>:</a:t>
            </a:r>
          </a:p>
          <a:p>
            <a:r>
              <a:rPr lang="es-CL" dirty="0">
                <a:solidFill>
                  <a:schemeClr val="bg1"/>
                </a:solidFill>
              </a:rPr>
              <a:t>        case "1":</a:t>
            </a:r>
          </a:p>
          <a:p>
            <a:r>
              <a:rPr lang="es-CL" dirty="0">
                <a:solidFill>
                  <a:schemeClr val="bg1"/>
                </a:solidFill>
              </a:rPr>
              <a:t>            </a:t>
            </a:r>
            <a:r>
              <a:rPr lang="es-CL" dirty="0" err="1">
                <a:solidFill>
                  <a:schemeClr val="bg1"/>
                </a:solidFill>
              </a:rPr>
              <a:t>print</a:t>
            </a:r>
            <a:r>
              <a:rPr lang="es-CL" dirty="0">
                <a:solidFill>
                  <a:schemeClr val="bg1"/>
                </a:solidFill>
              </a:rPr>
              <a:t>("¡Hola, programador!")</a:t>
            </a:r>
          </a:p>
          <a:p>
            <a:r>
              <a:rPr lang="es-CL" dirty="0">
                <a:solidFill>
                  <a:schemeClr val="bg1"/>
                </a:solidFill>
              </a:rPr>
              <a:t>        case "2":</a:t>
            </a:r>
          </a:p>
          <a:p>
            <a:r>
              <a:rPr lang="es-CL" dirty="0">
                <a:solidFill>
                  <a:schemeClr val="bg1"/>
                </a:solidFill>
              </a:rPr>
              <a:t>            </a:t>
            </a:r>
            <a:r>
              <a:rPr lang="es-CL" dirty="0" err="1">
                <a:solidFill>
                  <a:schemeClr val="bg1"/>
                </a:solidFill>
              </a:rPr>
              <a:t>print</a:t>
            </a:r>
            <a:r>
              <a:rPr lang="es-CL" dirty="0">
                <a:solidFill>
                  <a:schemeClr val="bg1"/>
                </a:solidFill>
              </a:rPr>
              <a:t>("Son las 10:00 AM (ejemplo)")</a:t>
            </a:r>
          </a:p>
          <a:p>
            <a:r>
              <a:rPr lang="es-CL" dirty="0">
                <a:solidFill>
                  <a:schemeClr val="bg1"/>
                </a:solidFill>
              </a:rPr>
              <a:t>        case "3":</a:t>
            </a:r>
          </a:p>
          <a:p>
            <a:r>
              <a:rPr lang="es-CL" dirty="0">
                <a:solidFill>
                  <a:schemeClr val="bg1"/>
                </a:solidFill>
              </a:rPr>
              <a:t>            </a:t>
            </a:r>
            <a:r>
              <a:rPr lang="es-CL" dirty="0" err="1">
                <a:solidFill>
                  <a:schemeClr val="bg1"/>
                </a:solidFill>
              </a:rPr>
              <a:t>print</a:t>
            </a:r>
            <a:r>
              <a:rPr lang="es-CL" dirty="0">
                <a:solidFill>
                  <a:schemeClr val="bg1"/>
                </a:solidFill>
              </a:rPr>
              <a:t>("Saliendo del programa...")</a:t>
            </a:r>
          </a:p>
          <a:p>
            <a:r>
              <a:rPr lang="es-CL" dirty="0">
                <a:solidFill>
                  <a:schemeClr val="bg1"/>
                </a:solidFill>
              </a:rPr>
              <a:t>        case _:</a:t>
            </a:r>
          </a:p>
          <a:p>
            <a:r>
              <a:rPr lang="es-CL" dirty="0">
                <a:solidFill>
                  <a:schemeClr val="bg1"/>
                </a:solidFill>
              </a:rPr>
              <a:t>            </a:t>
            </a:r>
            <a:r>
              <a:rPr lang="es-CL" dirty="0" err="1">
                <a:solidFill>
                  <a:schemeClr val="bg1"/>
                </a:solidFill>
              </a:rPr>
              <a:t>print</a:t>
            </a:r>
            <a:r>
              <a:rPr lang="es-CL" dirty="0">
                <a:solidFill>
                  <a:schemeClr val="bg1"/>
                </a:solidFill>
              </a:rPr>
              <a:t>("Opción inválida, intenta de nuevo.")</a:t>
            </a:r>
          </a:p>
        </p:txBody>
      </p:sp>
    </p:spTree>
    <p:extLst>
      <p:ext uri="{BB962C8B-B14F-4D97-AF65-F5344CB8AC3E}">
        <p14:creationId xmlns:p14="http://schemas.microsoft.com/office/powerpoint/2010/main" val="3450843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AE233-84D1-9374-0A8E-77E976F51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5" y="257451"/>
            <a:ext cx="10302240" cy="1453439"/>
          </a:xfrm>
        </p:spPr>
        <p:txBody>
          <a:bodyPr/>
          <a:lstStyle/>
          <a:p>
            <a:r>
              <a:rPr lang="es-ES" sz="3200" dirty="0"/>
              <a:t>Ejercicio Resuelto: El Validador de Notas (Protección de datos)</a:t>
            </a:r>
            <a:endParaRPr lang="es-CL" sz="3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9D75D8-9531-C6A8-2749-AA419D2D4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7712" y="1942467"/>
            <a:ext cx="10438366" cy="584182"/>
          </a:xfrm>
        </p:spPr>
        <p:txBody>
          <a:bodyPr>
            <a:normAutofit fontScale="70000" lnSpcReduction="20000"/>
          </a:bodyPr>
          <a:lstStyle/>
          <a:p>
            <a:r>
              <a:rPr lang="es-ES" b="1" dirty="0"/>
              <a:t>escenario:</a:t>
            </a:r>
            <a:r>
              <a:rPr lang="es-ES" dirty="0"/>
              <a:t> A veces el usuario se equivoca y pone una nota que no existe (ej. un 8.5 o un -5).</a:t>
            </a:r>
          </a:p>
          <a:p>
            <a:r>
              <a:rPr lang="es-ES" dirty="0"/>
              <a:t> El </a:t>
            </a:r>
            <a:r>
              <a:rPr lang="es-ES" dirty="0" err="1"/>
              <a:t>while</a:t>
            </a:r>
            <a:r>
              <a:rPr lang="es-ES" dirty="0"/>
              <a:t> es perfecto para obligar al usuario a ingresar un dato correcto.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39F6748-909F-45A2-A607-4041FCC3ECFC}"/>
              </a:ext>
            </a:extLst>
          </p:cNvPr>
          <p:cNvSpPr txBox="1"/>
          <p:nvPr/>
        </p:nvSpPr>
        <p:spPr>
          <a:xfrm>
            <a:off x="2372558" y="2845227"/>
            <a:ext cx="65051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nota = </a:t>
            </a:r>
            <a:r>
              <a:rPr lang="es-CL" dirty="0" err="1">
                <a:solidFill>
                  <a:schemeClr val="bg1"/>
                </a:solidFill>
              </a:rPr>
              <a:t>float</a:t>
            </a:r>
            <a:r>
              <a:rPr lang="es-CL" dirty="0">
                <a:solidFill>
                  <a:schemeClr val="bg1"/>
                </a:solidFill>
              </a:rPr>
              <a:t>(input("Ingresa una nota entre 1.0 y 7.0: "))</a:t>
            </a:r>
          </a:p>
          <a:p>
            <a:endParaRPr lang="es-CL" dirty="0">
              <a:solidFill>
                <a:schemeClr val="bg1"/>
              </a:solidFill>
            </a:endParaRPr>
          </a:p>
          <a:p>
            <a:r>
              <a:rPr lang="es-CL" dirty="0">
                <a:solidFill>
                  <a:schemeClr val="bg1"/>
                </a:solidFill>
              </a:rPr>
              <a:t># El bucle se repite MIENTRAS la nota sea inválida</a:t>
            </a:r>
          </a:p>
          <a:p>
            <a:r>
              <a:rPr lang="es-CL" dirty="0" err="1">
                <a:solidFill>
                  <a:schemeClr val="bg1"/>
                </a:solidFill>
              </a:rPr>
              <a:t>while</a:t>
            </a:r>
            <a:r>
              <a:rPr lang="es-CL" dirty="0">
                <a:solidFill>
                  <a:schemeClr val="bg1"/>
                </a:solidFill>
              </a:rPr>
              <a:t> nota &lt; 1.0 </a:t>
            </a:r>
            <a:r>
              <a:rPr lang="es-CL" dirty="0" err="1">
                <a:solidFill>
                  <a:schemeClr val="bg1"/>
                </a:solidFill>
              </a:rPr>
              <a:t>or</a:t>
            </a:r>
            <a:r>
              <a:rPr lang="es-CL" dirty="0">
                <a:solidFill>
                  <a:schemeClr val="bg1"/>
                </a:solidFill>
              </a:rPr>
              <a:t> nota &gt; 7.0:</a:t>
            </a:r>
          </a:p>
          <a:p>
            <a:r>
              <a:rPr lang="es-CL" dirty="0">
                <a:solidFill>
                  <a:schemeClr val="bg1"/>
                </a:solidFill>
              </a:rPr>
              <a:t>    </a:t>
            </a:r>
            <a:r>
              <a:rPr lang="es-CL" dirty="0" err="1">
                <a:solidFill>
                  <a:schemeClr val="bg1"/>
                </a:solidFill>
              </a:rPr>
              <a:t>print</a:t>
            </a:r>
            <a:r>
              <a:rPr lang="es-CL" dirty="0">
                <a:solidFill>
                  <a:schemeClr val="bg1"/>
                </a:solidFill>
              </a:rPr>
              <a:t>("❌ Error: La nota debe estar entre 1.0 y 7.0")</a:t>
            </a:r>
          </a:p>
          <a:p>
            <a:r>
              <a:rPr lang="es-CL" dirty="0">
                <a:solidFill>
                  <a:schemeClr val="bg1"/>
                </a:solidFill>
              </a:rPr>
              <a:t>    nota = </a:t>
            </a:r>
            <a:r>
              <a:rPr lang="es-CL" dirty="0" err="1">
                <a:solidFill>
                  <a:schemeClr val="bg1"/>
                </a:solidFill>
              </a:rPr>
              <a:t>float</a:t>
            </a:r>
            <a:r>
              <a:rPr lang="es-CL" dirty="0">
                <a:solidFill>
                  <a:schemeClr val="bg1"/>
                </a:solidFill>
              </a:rPr>
              <a:t>(input("Inténtalo de nuevo: "))</a:t>
            </a:r>
          </a:p>
          <a:p>
            <a:endParaRPr lang="es-CL" dirty="0">
              <a:solidFill>
                <a:schemeClr val="bg1"/>
              </a:solidFill>
            </a:endParaRPr>
          </a:p>
          <a:p>
            <a:r>
              <a:rPr lang="es-CL" dirty="0" err="1">
                <a:solidFill>
                  <a:schemeClr val="bg1"/>
                </a:solidFill>
              </a:rPr>
              <a:t>print</a:t>
            </a:r>
            <a:r>
              <a:rPr lang="es-CL" dirty="0">
                <a:solidFill>
                  <a:schemeClr val="bg1"/>
                </a:solidFill>
              </a:rPr>
              <a:t>(f"✅ Nota {nota} registrada exitosamente.")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5585C6B-1B0D-612B-9987-325E01262A71}"/>
              </a:ext>
            </a:extLst>
          </p:cNvPr>
          <p:cNvSpPr txBox="1"/>
          <p:nvPr/>
        </p:nvSpPr>
        <p:spPr>
          <a:xfrm>
            <a:off x="6096000" y="5677219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Aquí el </a:t>
            </a:r>
            <a:r>
              <a:rPr lang="es-ES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while</a:t>
            </a:r>
            <a:r>
              <a:rPr lang="es-ES" dirty="0">
                <a:solidFill>
                  <a:schemeClr val="bg1"/>
                </a:solidFill>
              </a:rPr>
              <a:t> actúa como un "filtro". Si el usuario pone una nota correcta a la primera, el bucle ni siquiera se ejecuta.</a:t>
            </a:r>
            <a:endParaRPr lang="es-C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421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F27AE-28FF-8870-9BC6-CF170E7A2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569" y="240584"/>
            <a:ext cx="10302240" cy="1852046"/>
          </a:xfrm>
        </p:spPr>
        <p:txBody>
          <a:bodyPr/>
          <a:lstStyle/>
          <a:p>
            <a:r>
              <a:rPr lang="es-ES" sz="3600" dirty="0"/>
              <a:t>Ejercicio Resuelto: Cajero Automático (Uso de break)</a:t>
            </a:r>
            <a:endParaRPr lang="es-CL" sz="3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AC5065-828A-CE2D-3FCE-906E96A89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3121" y="1894034"/>
            <a:ext cx="10302237" cy="397191"/>
          </a:xfrm>
        </p:spPr>
        <p:txBody>
          <a:bodyPr>
            <a:normAutofit fontScale="70000" lnSpcReduction="20000"/>
          </a:bodyPr>
          <a:lstStyle/>
          <a:p>
            <a:r>
              <a:rPr lang="es-ES" b="1"/>
              <a:t>Escenario:</a:t>
            </a:r>
            <a:r>
              <a:rPr lang="es-ES"/>
              <a:t> Un sistema que se repite hasta que el usuario decida salir, usando un "Bucle Infinito controlado".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011713C-2BE4-7A35-1AE5-38CA75876E06}"/>
              </a:ext>
            </a:extLst>
          </p:cNvPr>
          <p:cNvSpPr txBox="1"/>
          <p:nvPr/>
        </p:nvSpPr>
        <p:spPr>
          <a:xfrm>
            <a:off x="2088472" y="2419757"/>
            <a:ext cx="60945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saldo = 5000</a:t>
            </a:r>
          </a:p>
          <a:p>
            <a:endParaRPr lang="es-CL" dirty="0">
              <a:solidFill>
                <a:schemeClr val="bg1"/>
              </a:solidFill>
            </a:endParaRPr>
          </a:p>
          <a:p>
            <a:r>
              <a:rPr lang="es-CL" dirty="0" err="1">
                <a:solidFill>
                  <a:schemeClr val="bg1"/>
                </a:solidFill>
              </a:rPr>
              <a:t>while</a:t>
            </a:r>
            <a:r>
              <a:rPr lang="es-CL" dirty="0">
                <a:solidFill>
                  <a:schemeClr val="bg1"/>
                </a:solidFill>
              </a:rPr>
              <a:t> True:</a:t>
            </a:r>
          </a:p>
          <a:p>
            <a:r>
              <a:rPr lang="es-CL" dirty="0">
                <a:solidFill>
                  <a:schemeClr val="bg1"/>
                </a:solidFill>
              </a:rPr>
              <a:t>    </a:t>
            </a:r>
            <a:r>
              <a:rPr lang="es-CL" dirty="0" err="1">
                <a:solidFill>
                  <a:schemeClr val="bg1"/>
                </a:solidFill>
              </a:rPr>
              <a:t>print</a:t>
            </a:r>
            <a:r>
              <a:rPr lang="es-CL" dirty="0">
                <a:solidFill>
                  <a:schemeClr val="bg1"/>
                </a:solidFill>
              </a:rPr>
              <a:t>("\n1. Ver saldo")</a:t>
            </a:r>
          </a:p>
          <a:p>
            <a:r>
              <a:rPr lang="es-CL" dirty="0">
                <a:solidFill>
                  <a:schemeClr val="bg1"/>
                </a:solidFill>
              </a:rPr>
              <a:t>    </a:t>
            </a:r>
            <a:r>
              <a:rPr lang="es-CL" dirty="0" err="1">
                <a:solidFill>
                  <a:schemeClr val="bg1"/>
                </a:solidFill>
              </a:rPr>
              <a:t>print</a:t>
            </a:r>
            <a:r>
              <a:rPr lang="es-CL" dirty="0">
                <a:solidFill>
                  <a:schemeClr val="bg1"/>
                </a:solidFill>
              </a:rPr>
              <a:t>("2. Salir")</a:t>
            </a:r>
          </a:p>
          <a:p>
            <a:r>
              <a:rPr lang="es-CL" dirty="0">
                <a:solidFill>
                  <a:schemeClr val="bg1"/>
                </a:solidFill>
              </a:rPr>
              <a:t>    </a:t>
            </a:r>
            <a:r>
              <a:rPr lang="es-CL" dirty="0" err="1">
                <a:solidFill>
                  <a:schemeClr val="bg1"/>
                </a:solidFill>
              </a:rPr>
              <a:t>opcion</a:t>
            </a:r>
            <a:r>
              <a:rPr lang="es-CL" dirty="0">
                <a:solidFill>
                  <a:schemeClr val="bg1"/>
                </a:solidFill>
              </a:rPr>
              <a:t> = input("Seleccione una opción: ")</a:t>
            </a:r>
          </a:p>
          <a:p>
            <a:endParaRPr lang="es-CL" dirty="0">
              <a:solidFill>
                <a:schemeClr val="bg1"/>
              </a:solidFill>
            </a:endParaRPr>
          </a:p>
          <a:p>
            <a:r>
              <a:rPr lang="es-CL" dirty="0">
                <a:solidFill>
                  <a:schemeClr val="bg1"/>
                </a:solidFill>
              </a:rPr>
              <a:t>    </a:t>
            </a:r>
            <a:r>
              <a:rPr lang="es-CL" dirty="0" err="1">
                <a:solidFill>
                  <a:schemeClr val="bg1"/>
                </a:solidFill>
              </a:rPr>
              <a:t>if</a:t>
            </a:r>
            <a:r>
              <a:rPr lang="es-CL" dirty="0">
                <a:solidFill>
                  <a:schemeClr val="bg1"/>
                </a:solidFill>
              </a:rPr>
              <a:t> </a:t>
            </a:r>
            <a:r>
              <a:rPr lang="es-CL" dirty="0" err="1">
                <a:solidFill>
                  <a:schemeClr val="bg1"/>
                </a:solidFill>
              </a:rPr>
              <a:t>opcion</a:t>
            </a:r>
            <a:r>
              <a:rPr lang="es-CL" dirty="0">
                <a:solidFill>
                  <a:schemeClr val="bg1"/>
                </a:solidFill>
              </a:rPr>
              <a:t> == "1":</a:t>
            </a:r>
          </a:p>
          <a:p>
            <a:r>
              <a:rPr lang="es-CL" dirty="0">
                <a:solidFill>
                  <a:schemeClr val="bg1"/>
                </a:solidFill>
              </a:rPr>
              <a:t>        </a:t>
            </a:r>
            <a:r>
              <a:rPr lang="es-CL" dirty="0" err="1">
                <a:solidFill>
                  <a:schemeClr val="bg1"/>
                </a:solidFill>
              </a:rPr>
              <a:t>print</a:t>
            </a:r>
            <a:r>
              <a:rPr lang="es-CL" dirty="0">
                <a:solidFill>
                  <a:schemeClr val="bg1"/>
                </a:solidFill>
              </a:rPr>
              <a:t>(</a:t>
            </a:r>
            <a:r>
              <a:rPr lang="es-CL" dirty="0" err="1">
                <a:solidFill>
                  <a:schemeClr val="bg1"/>
                </a:solidFill>
              </a:rPr>
              <a:t>f"Tu</a:t>
            </a:r>
            <a:r>
              <a:rPr lang="es-CL" dirty="0">
                <a:solidFill>
                  <a:schemeClr val="bg1"/>
                </a:solidFill>
              </a:rPr>
              <a:t> saldo actual es: ${saldo}")</a:t>
            </a:r>
          </a:p>
          <a:p>
            <a:r>
              <a:rPr lang="es-CL" dirty="0">
                <a:solidFill>
                  <a:schemeClr val="bg1"/>
                </a:solidFill>
              </a:rPr>
              <a:t>    </a:t>
            </a:r>
            <a:r>
              <a:rPr lang="es-CL" dirty="0" err="1">
                <a:solidFill>
                  <a:schemeClr val="bg1"/>
                </a:solidFill>
              </a:rPr>
              <a:t>elif</a:t>
            </a:r>
            <a:r>
              <a:rPr lang="es-CL" dirty="0">
                <a:solidFill>
                  <a:schemeClr val="bg1"/>
                </a:solidFill>
              </a:rPr>
              <a:t> </a:t>
            </a:r>
            <a:r>
              <a:rPr lang="es-CL" dirty="0" err="1">
                <a:solidFill>
                  <a:schemeClr val="bg1"/>
                </a:solidFill>
              </a:rPr>
              <a:t>opcion</a:t>
            </a:r>
            <a:r>
              <a:rPr lang="es-CL" dirty="0">
                <a:solidFill>
                  <a:schemeClr val="bg1"/>
                </a:solidFill>
              </a:rPr>
              <a:t> == "2":</a:t>
            </a:r>
          </a:p>
          <a:p>
            <a:r>
              <a:rPr lang="es-CL" dirty="0">
                <a:solidFill>
                  <a:schemeClr val="bg1"/>
                </a:solidFill>
              </a:rPr>
              <a:t>        </a:t>
            </a:r>
            <a:r>
              <a:rPr lang="es-CL" dirty="0" err="1">
                <a:solidFill>
                  <a:schemeClr val="bg1"/>
                </a:solidFill>
              </a:rPr>
              <a:t>print</a:t>
            </a:r>
            <a:r>
              <a:rPr lang="es-CL" dirty="0">
                <a:solidFill>
                  <a:schemeClr val="bg1"/>
                </a:solidFill>
              </a:rPr>
              <a:t>("Saliendo del sistema... ¡Adiós!")</a:t>
            </a:r>
          </a:p>
          <a:p>
            <a:r>
              <a:rPr lang="es-CL" dirty="0">
                <a:solidFill>
                  <a:schemeClr val="bg1"/>
                </a:solidFill>
              </a:rPr>
              <a:t>        break  # Rompe el bucle inmediatamente</a:t>
            </a:r>
          </a:p>
          <a:p>
            <a:r>
              <a:rPr lang="es-CL" dirty="0">
                <a:solidFill>
                  <a:schemeClr val="bg1"/>
                </a:solidFill>
              </a:rPr>
              <a:t>    </a:t>
            </a:r>
            <a:r>
              <a:rPr lang="es-CL" dirty="0" err="1">
                <a:solidFill>
                  <a:schemeClr val="bg1"/>
                </a:solidFill>
              </a:rPr>
              <a:t>else</a:t>
            </a:r>
            <a:r>
              <a:rPr lang="es-CL" dirty="0">
                <a:solidFill>
                  <a:schemeClr val="bg1"/>
                </a:solidFill>
              </a:rPr>
              <a:t>:</a:t>
            </a:r>
          </a:p>
          <a:p>
            <a:r>
              <a:rPr lang="es-CL" dirty="0">
                <a:solidFill>
                  <a:schemeClr val="bg1"/>
                </a:solidFill>
              </a:rPr>
              <a:t>        </a:t>
            </a:r>
            <a:r>
              <a:rPr lang="es-CL" dirty="0" err="1">
                <a:solidFill>
                  <a:schemeClr val="bg1"/>
                </a:solidFill>
              </a:rPr>
              <a:t>print</a:t>
            </a:r>
            <a:r>
              <a:rPr lang="es-CL" dirty="0">
                <a:solidFill>
                  <a:schemeClr val="bg1"/>
                </a:solidFill>
              </a:rPr>
              <a:t>("Opción no válida.")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F23D372-F20D-445B-AFC4-6869E8DC392D}"/>
              </a:ext>
            </a:extLst>
          </p:cNvPr>
          <p:cNvSpPr txBox="1"/>
          <p:nvPr/>
        </p:nvSpPr>
        <p:spPr>
          <a:xfrm>
            <a:off x="9170633" y="2863023"/>
            <a:ext cx="216393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El </a:t>
            </a:r>
            <a:r>
              <a:rPr lang="es-ES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while</a:t>
            </a:r>
            <a:r>
              <a:rPr lang="es-ES" b="1" dirty="0">
                <a:solidFill>
                  <a:schemeClr val="bg1"/>
                </a:solidFill>
                <a:latin typeface="Courier New" panose="02070309020205020404" pitchFamily="49" charset="0"/>
              </a:rPr>
              <a:t> True</a:t>
            </a:r>
            <a:r>
              <a:rPr lang="es-ES" b="1" dirty="0">
                <a:solidFill>
                  <a:schemeClr val="bg1"/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crea un ciclo que nunca termina, a menos que el programa encuentre la palabra </a:t>
            </a:r>
            <a:r>
              <a:rPr lang="es-ES" b="1" dirty="0">
                <a:solidFill>
                  <a:schemeClr val="bg1"/>
                </a:solidFill>
                <a:latin typeface="Courier New" panose="02070309020205020404" pitchFamily="49" charset="0"/>
              </a:rPr>
              <a:t>break</a:t>
            </a:r>
            <a:r>
              <a:rPr lang="es-ES" dirty="0">
                <a:solidFill>
                  <a:schemeClr val="bg1"/>
                </a:solidFill>
              </a:rPr>
              <a:t>. Es la base de casi todos los menús de software.</a:t>
            </a:r>
            <a:endParaRPr lang="es-C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612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06D31452-6B5E-6B76-6A32-7A5682D3B354}"/>
              </a:ext>
            </a:extLst>
          </p:cNvPr>
          <p:cNvSpPr txBox="1"/>
          <p:nvPr/>
        </p:nvSpPr>
        <p:spPr>
          <a:xfrm>
            <a:off x="1072051" y="242316"/>
            <a:ext cx="5632704" cy="637336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 err="1"/>
              <a:t>galletas_totales</a:t>
            </a:r>
            <a:r>
              <a:rPr lang="es-ES" sz="1100" dirty="0"/>
              <a:t> = 0  # Primer contador: Unidad por unidad</a:t>
            </a:r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 err="1"/>
              <a:t>paquetes_listos</a:t>
            </a:r>
            <a:r>
              <a:rPr lang="es-ES" sz="1100" dirty="0"/>
              <a:t> = 0   # Segundo contador: Agrupaciones</a:t>
            </a:r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 err="1"/>
              <a:t>meta_paquetes</a:t>
            </a:r>
            <a:r>
              <a:rPr lang="es-ES" sz="1100" dirty="0"/>
              <a:t> = 3</a:t>
            </a:r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endParaRPr lang="es-ES" sz="1100" dirty="0"/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 err="1"/>
              <a:t>print</a:t>
            </a:r>
            <a:r>
              <a:rPr lang="es-ES" sz="1100" dirty="0"/>
              <a:t>("--- INICIO DE PRODUCCIÓN ---")</a:t>
            </a:r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endParaRPr lang="es-ES" sz="1100" dirty="0"/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/>
              <a:t># El bucle sigue hasta completar la meta de paquetes</a:t>
            </a:r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 err="1"/>
              <a:t>while</a:t>
            </a:r>
            <a:r>
              <a:rPr lang="es-ES" sz="1100" dirty="0"/>
              <a:t> </a:t>
            </a:r>
            <a:r>
              <a:rPr lang="es-ES" sz="1100" dirty="0" err="1"/>
              <a:t>paquetes_listos</a:t>
            </a:r>
            <a:r>
              <a:rPr lang="es-ES" sz="1100" dirty="0"/>
              <a:t> &lt; </a:t>
            </a:r>
            <a:r>
              <a:rPr lang="es-ES" sz="1100" dirty="0" err="1"/>
              <a:t>meta_paquetes</a:t>
            </a:r>
            <a:r>
              <a:rPr lang="es-ES" sz="1100" dirty="0"/>
              <a:t>:</a:t>
            </a:r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/>
              <a:t>    </a:t>
            </a:r>
            <a:r>
              <a:rPr lang="es-ES" sz="1100" dirty="0" err="1"/>
              <a:t>galletas_totales</a:t>
            </a:r>
            <a:r>
              <a:rPr lang="es-ES" sz="1100" dirty="0"/>
              <a:t> += 1</a:t>
            </a:r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/>
              <a:t>    </a:t>
            </a:r>
            <a:r>
              <a:rPr lang="es-ES" sz="1100" dirty="0" err="1"/>
              <a:t>print</a:t>
            </a:r>
            <a:r>
              <a:rPr lang="es-ES" sz="1100" dirty="0"/>
              <a:t>(f"🍪 Galleta horneada... (Total: {</a:t>
            </a:r>
            <a:r>
              <a:rPr lang="es-ES" sz="1100" dirty="0" err="1"/>
              <a:t>galletas_totales</a:t>
            </a:r>
            <a:r>
              <a:rPr lang="es-ES" sz="1100" dirty="0"/>
              <a:t>})")</a:t>
            </a:r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/>
              <a:t>    </a:t>
            </a:r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/>
              <a:t>    # Si llegamos a 4 galletas, completamos un paquete</a:t>
            </a:r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/>
              <a:t>    </a:t>
            </a:r>
            <a:r>
              <a:rPr lang="es-ES" sz="1100" dirty="0" err="1"/>
              <a:t>if</a:t>
            </a:r>
            <a:r>
              <a:rPr lang="es-ES" sz="1100" dirty="0"/>
              <a:t> </a:t>
            </a:r>
            <a:r>
              <a:rPr lang="es-ES" sz="1100" dirty="0" err="1"/>
              <a:t>galletas_totales</a:t>
            </a:r>
            <a:r>
              <a:rPr lang="es-ES" sz="1100" dirty="0"/>
              <a:t> % 4 == 0:</a:t>
            </a:r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/>
              <a:t>        </a:t>
            </a:r>
            <a:r>
              <a:rPr lang="es-ES" sz="1100" dirty="0" err="1"/>
              <a:t>paquetes_listos</a:t>
            </a:r>
            <a:r>
              <a:rPr lang="es-ES" sz="1100" dirty="0"/>
              <a:t> += 1</a:t>
            </a:r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/>
              <a:t>        </a:t>
            </a:r>
            <a:r>
              <a:rPr lang="es-ES" sz="1100" dirty="0" err="1"/>
              <a:t>print</a:t>
            </a:r>
            <a:r>
              <a:rPr lang="es-ES" sz="1100" dirty="0"/>
              <a:t>(f"📦 ¡Paquete #{paquetes_listos} completado!")</a:t>
            </a:r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endParaRPr lang="es-ES" sz="1100" dirty="0"/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 err="1"/>
              <a:t>print</a:t>
            </a:r>
            <a:r>
              <a:rPr lang="es-ES" sz="1100" dirty="0"/>
              <a:t>("\n" + "="*25)</a:t>
            </a:r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 err="1"/>
              <a:t>print</a:t>
            </a:r>
            <a:r>
              <a:rPr lang="es-ES" sz="1100" dirty="0"/>
              <a:t>(</a:t>
            </a:r>
            <a:r>
              <a:rPr lang="es-ES" sz="1100" dirty="0" err="1"/>
              <a:t>f"PRODUCCIÓN</a:t>
            </a:r>
            <a:r>
              <a:rPr lang="es-ES" sz="1100" dirty="0"/>
              <a:t> FINALIZADA")</a:t>
            </a:r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 err="1"/>
              <a:t>print</a:t>
            </a:r>
            <a:r>
              <a:rPr lang="es-ES" sz="1100" dirty="0"/>
              <a:t>(</a:t>
            </a:r>
            <a:r>
              <a:rPr lang="es-ES" sz="1100" dirty="0" err="1"/>
              <a:t>f"Total</a:t>
            </a:r>
            <a:r>
              <a:rPr lang="es-ES" sz="1100" dirty="0"/>
              <a:t> galletas: {</a:t>
            </a:r>
            <a:r>
              <a:rPr lang="es-ES" sz="1100" dirty="0" err="1"/>
              <a:t>galletas_totales</a:t>
            </a:r>
            <a:r>
              <a:rPr lang="es-ES" sz="1100" dirty="0"/>
              <a:t>}")</a:t>
            </a:r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 err="1"/>
              <a:t>print</a:t>
            </a:r>
            <a:r>
              <a:rPr lang="es-ES" sz="1100" dirty="0"/>
              <a:t>(</a:t>
            </a:r>
            <a:r>
              <a:rPr lang="es-ES" sz="1100" dirty="0" err="1"/>
              <a:t>f"Total</a:t>
            </a:r>
            <a:r>
              <a:rPr lang="es-ES" sz="1100" dirty="0"/>
              <a:t> paquetes: {</a:t>
            </a:r>
            <a:r>
              <a:rPr lang="es-ES" sz="1100" dirty="0" err="1"/>
              <a:t>paquetes_listos</a:t>
            </a:r>
            <a:r>
              <a:rPr lang="es-ES" sz="1100" dirty="0"/>
              <a:t>}")</a:t>
            </a:r>
          </a:p>
          <a:p>
            <a:pPr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s-ES" sz="1100" dirty="0" err="1"/>
              <a:t>print</a:t>
            </a:r>
            <a:r>
              <a:rPr lang="es-ES" sz="1100" dirty="0"/>
              <a:t>("="*25)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67355F0-27E9-7A31-DEF9-8ACEEFF56364}"/>
              </a:ext>
            </a:extLst>
          </p:cNvPr>
          <p:cNvSpPr txBox="1"/>
          <p:nvPr/>
        </p:nvSpPr>
        <p:spPr>
          <a:xfrm>
            <a:off x="6704755" y="685800"/>
            <a:ext cx="4937760" cy="4023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/>
              <a:t>Ejercicio Resuelto: La Fábrica de Galletas</a:t>
            </a:r>
          </a:p>
          <a:p>
            <a:pPr marL="228600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/>
              <a:t>Escenario:</a:t>
            </a:r>
            <a:r>
              <a:rPr lang="es-ES" dirty="0"/>
              <a:t> Una máquina produce galletas en paquetes. </a:t>
            </a:r>
          </a:p>
          <a:p>
            <a:pPr marL="228600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dirty="0"/>
              <a:t>Necesitamos contar cuántas galletas se han fabricado en total y cuántos paquetes se han completado (cada paquete lleva 4 galletas).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88077C5-03DC-841F-32CA-7DBE58906BEE}"/>
              </a:ext>
            </a:extLst>
          </p:cNvPr>
          <p:cNvSpPr txBox="1"/>
          <p:nvPr/>
        </p:nvSpPr>
        <p:spPr>
          <a:xfrm>
            <a:off x="6704755" y="3069750"/>
            <a:ext cx="437440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s-ES" sz="1400" b="1" dirty="0"/>
              <a:t>l Contador Rápido (</a:t>
            </a:r>
            <a:r>
              <a:rPr lang="es-ES" sz="1400" b="1" dirty="0" err="1">
                <a:latin typeface="Courier New" panose="02070309020205020404" pitchFamily="49" charset="0"/>
              </a:rPr>
              <a:t>galletas_totales</a:t>
            </a:r>
            <a:r>
              <a:rPr lang="es-ES" sz="1400" b="1" dirty="0"/>
              <a:t>):</a:t>
            </a:r>
            <a:r>
              <a:rPr lang="es-ES" sz="1400" dirty="0"/>
              <a:t> Es como el segundero de un reloj. Se mueve en cada vuelta del bucle sin falta.</a:t>
            </a:r>
          </a:p>
          <a:p>
            <a:pPr>
              <a:buFont typeface="+mj-lt"/>
              <a:buAutoNum type="arabicPeriod"/>
            </a:pPr>
            <a:r>
              <a:rPr lang="es-ES" sz="1400" b="1" dirty="0"/>
              <a:t>El Contador Lento (</a:t>
            </a:r>
            <a:r>
              <a:rPr lang="es-ES" sz="1400" b="1" dirty="0" err="1">
                <a:latin typeface="Courier New" panose="02070309020205020404" pitchFamily="49" charset="0"/>
              </a:rPr>
              <a:t>paquetes_listos</a:t>
            </a:r>
            <a:r>
              <a:rPr lang="es-ES" sz="1400" b="1" dirty="0"/>
              <a:t>):</a:t>
            </a:r>
            <a:r>
              <a:rPr lang="es-ES" sz="1400" dirty="0"/>
              <a:t> Es como el minutero. Solo se mueve cuando el contador rápido llega a un punto específico (en este caso, cada 4 unidades).</a:t>
            </a:r>
          </a:p>
          <a:p>
            <a:pPr>
              <a:buNone/>
            </a:pPr>
            <a:r>
              <a:rPr lang="es-ES" sz="1400" b="1" dirty="0"/>
              <a:t>Lo que deben notar:</a:t>
            </a:r>
            <a:endParaRPr lang="es-E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1400" dirty="0"/>
              <a:t>El primer contador aumenta </a:t>
            </a:r>
            <a:r>
              <a:rPr lang="es-ES" sz="1400" b="1" dirty="0"/>
              <a:t>siempre</a:t>
            </a:r>
            <a:r>
              <a:rPr lang="es-E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400" dirty="0"/>
              <a:t>El segundo contador aumenta </a:t>
            </a:r>
            <a:r>
              <a:rPr lang="es-ES" sz="1400" b="1" dirty="0"/>
              <a:t>bajo una condición</a:t>
            </a:r>
            <a:r>
              <a:rPr lang="es-ES" sz="1400" dirty="0"/>
              <a:t> (</a:t>
            </a:r>
            <a:r>
              <a:rPr lang="es-ES" sz="1400" dirty="0" err="1">
                <a:latin typeface="Courier New" panose="02070309020205020404" pitchFamily="49" charset="0"/>
              </a:rPr>
              <a:t>if</a:t>
            </a:r>
            <a:r>
              <a:rPr lang="es-ES" sz="14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400" dirty="0"/>
              <a:t>La condición del </a:t>
            </a:r>
            <a:r>
              <a:rPr lang="es-ES" sz="1400" dirty="0" err="1">
                <a:latin typeface="Courier New" panose="02070309020205020404" pitchFamily="49" charset="0"/>
              </a:rPr>
              <a:t>while</a:t>
            </a:r>
            <a:r>
              <a:rPr lang="es-ES" sz="1400" dirty="0"/>
              <a:t> depende del contador lento, no del rápido.</a:t>
            </a:r>
          </a:p>
        </p:txBody>
      </p:sp>
    </p:spTree>
    <p:extLst>
      <p:ext uri="{BB962C8B-B14F-4D97-AF65-F5344CB8AC3E}">
        <p14:creationId xmlns:p14="http://schemas.microsoft.com/office/powerpoint/2010/main" val="2531925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D981AAB-3817-44B5-9734-24D8D2CFF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3335" y="90997"/>
            <a:ext cx="10302237" cy="6676006"/>
          </a:xfrm>
        </p:spPr>
        <p:txBody>
          <a:bodyPr>
            <a:normAutofit fontScale="40000" lnSpcReduction="20000"/>
          </a:bodyPr>
          <a:lstStyle/>
          <a:p>
            <a:r>
              <a:rPr lang="es-ES" dirty="0"/>
              <a:t># 1. Inicio: Definimos la meta y el estado actual</a:t>
            </a:r>
          </a:p>
          <a:p>
            <a:r>
              <a:rPr lang="es-ES" dirty="0" err="1"/>
              <a:t>energia_total</a:t>
            </a:r>
            <a:r>
              <a:rPr lang="es-ES" dirty="0"/>
              <a:t> = 0</a:t>
            </a:r>
          </a:p>
          <a:p>
            <a:r>
              <a:rPr lang="es-ES" dirty="0" err="1"/>
              <a:t>meta_energia</a:t>
            </a:r>
            <a:r>
              <a:rPr lang="es-ES" dirty="0"/>
              <a:t> = 100</a:t>
            </a:r>
          </a:p>
          <a:p>
            <a:endParaRPr lang="es-ES" dirty="0"/>
          </a:p>
          <a:p>
            <a:r>
              <a:rPr lang="es-ES" dirty="0" err="1"/>
              <a:t>print</a:t>
            </a:r>
            <a:r>
              <a:rPr lang="es-ES" dirty="0"/>
              <a:t>("--- SISTEMA DE CARGA ESPACIAL ---")</a:t>
            </a:r>
          </a:p>
          <a:p>
            <a:endParaRPr lang="es-ES" dirty="0"/>
          </a:p>
          <a:p>
            <a:r>
              <a:rPr lang="es-ES" dirty="0"/>
              <a:t># 2. Condición: El bucle sigue MIENTRAS no alcancemos la meta</a:t>
            </a:r>
          </a:p>
          <a:p>
            <a:r>
              <a:rPr lang="es-ES" dirty="0" err="1"/>
              <a:t>while</a:t>
            </a:r>
            <a:r>
              <a:rPr lang="es-ES" dirty="0"/>
              <a:t> </a:t>
            </a:r>
            <a:r>
              <a:rPr lang="es-ES" dirty="0" err="1"/>
              <a:t>energia_total</a:t>
            </a:r>
            <a:r>
              <a:rPr lang="es-ES" dirty="0"/>
              <a:t> &lt; </a:t>
            </a:r>
            <a:r>
              <a:rPr lang="es-ES" dirty="0" err="1"/>
              <a:t>meta_energia</a:t>
            </a:r>
            <a:r>
              <a:rPr lang="es-ES" dirty="0"/>
              <a:t>:</a:t>
            </a:r>
          </a:p>
          <a:p>
            <a:r>
              <a:rPr lang="es-ES" dirty="0"/>
              <a:t>    </a:t>
            </a:r>
            <a:r>
              <a:rPr lang="es-ES" dirty="0" err="1"/>
              <a:t>print</a:t>
            </a:r>
            <a:r>
              <a:rPr lang="es-ES" dirty="0"/>
              <a:t>(f"\</a:t>
            </a:r>
            <a:r>
              <a:rPr lang="es-ES" dirty="0" err="1"/>
              <a:t>nEnergía</a:t>
            </a:r>
            <a:r>
              <a:rPr lang="es-ES" dirty="0"/>
              <a:t> actual: {</a:t>
            </a:r>
            <a:r>
              <a:rPr lang="es-ES" dirty="0" err="1"/>
              <a:t>energia_total</a:t>
            </a:r>
            <a:r>
              <a:rPr lang="es-ES" dirty="0"/>
              <a:t>} / {</a:t>
            </a:r>
            <a:r>
              <a:rPr lang="es-ES" dirty="0" err="1"/>
              <a:t>meta_energia</a:t>
            </a:r>
            <a:r>
              <a:rPr lang="es-ES" dirty="0"/>
              <a:t>}")</a:t>
            </a:r>
          </a:p>
          <a:p>
            <a:r>
              <a:rPr lang="es-ES" dirty="0"/>
              <a:t>    </a:t>
            </a:r>
          </a:p>
          <a:p>
            <a:r>
              <a:rPr lang="es-ES" dirty="0"/>
              <a:t>    # Pedimos al usuario la carga</a:t>
            </a:r>
          </a:p>
          <a:p>
            <a:r>
              <a:rPr lang="es-ES" dirty="0"/>
              <a:t>    carga = </a:t>
            </a:r>
            <a:r>
              <a:rPr lang="es-ES" dirty="0" err="1"/>
              <a:t>int</a:t>
            </a:r>
            <a:r>
              <a:rPr lang="es-ES" dirty="0"/>
              <a:t>(input("Ingrese cantidad de energía para cargar: "))</a:t>
            </a:r>
          </a:p>
          <a:p>
            <a:r>
              <a:rPr lang="es-ES" dirty="0"/>
              <a:t>    </a:t>
            </a:r>
          </a:p>
          <a:p>
            <a:r>
              <a:rPr lang="es-ES" dirty="0"/>
              <a:t>    # Validación extra (opcional pero recomendada)</a:t>
            </a:r>
          </a:p>
          <a:p>
            <a:r>
              <a:rPr lang="es-ES" dirty="0"/>
              <a:t>    </a:t>
            </a:r>
            <a:r>
              <a:rPr lang="es-ES" dirty="0" err="1"/>
              <a:t>if</a:t>
            </a:r>
            <a:r>
              <a:rPr lang="es-ES" dirty="0"/>
              <a:t> carga &lt; 0:</a:t>
            </a:r>
          </a:p>
          <a:p>
            <a:r>
              <a:rPr lang="es-ES" dirty="0"/>
              <a:t>        </a:t>
            </a:r>
            <a:r>
              <a:rPr lang="es-ES" dirty="0" err="1"/>
              <a:t>print</a:t>
            </a:r>
            <a:r>
              <a:rPr lang="es-ES" dirty="0"/>
              <a:t>(" Error: No puedes ingresar valores negativos.")</a:t>
            </a:r>
          </a:p>
          <a:p>
            <a:r>
              <a:rPr lang="es-ES" dirty="0"/>
              <a:t>        continue # Salta el resto y vuelve a preguntar sin sumar nada</a:t>
            </a:r>
          </a:p>
          <a:p>
            <a:r>
              <a:rPr lang="es-ES" dirty="0"/>
              <a:t>    </a:t>
            </a:r>
          </a:p>
          <a:p>
            <a:r>
              <a:rPr lang="es-ES" dirty="0"/>
              <a:t>    # 3. Actualización: Acumulamos la energía</a:t>
            </a:r>
          </a:p>
          <a:p>
            <a:r>
              <a:rPr lang="es-ES" dirty="0"/>
              <a:t>    </a:t>
            </a:r>
            <a:r>
              <a:rPr lang="es-ES" dirty="0" err="1"/>
              <a:t>energia_total</a:t>
            </a:r>
            <a:r>
              <a:rPr lang="es-ES" dirty="0"/>
              <a:t> += carga</a:t>
            </a:r>
          </a:p>
          <a:p>
            <a:r>
              <a:rPr lang="es-ES" dirty="0"/>
              <a:t>    </a:t>
            </a:r>
          </a:p>
          <a:p>
            <a:r>
              <a:rPr lang="es-ES" dirty="0"/>
              <a:t>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energia_total</a:t>
            </a:r>
            <a:r>
              <a:rPr lang="es-ES" dirty="0"/>
              <a:t> &lt; </a:t>
            </a:r>
            <a:r>
              <a:rPr lang="es-ES" dirty="0" err="1"/>
              <a:t>meta_energia</a:t>
            </a:r>
            <a:r>
              <a:rPr lang="es-ES" dirty="0"/>
              <a:t>:</a:t>
            </a:r>
          </a:p>
          <a:p>
            <a:r>
              <a:rPr lang="es-ES" dirty="0"/>
              <a:t>        </a:t>
            </a:r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f"Sigue</a:t>
            </a:r>
            <a:r>
              <a:rPr lang="es-ES" dirty="0"/>
              <a:t> cargando... Faltan {</a:t>
            </a:r>
            <a:r>
              <a:rPr lang="es-ES" dirty="0" err="1"/>
              <a:t>meta_energia</a:t>
            </a:r>
            <a:r>
              <a:rPr lang="es-ES" dirty="0"/>
              <a:t> - </a:t>
            </a:r>
            <a:r>
              <a:rPr lang="es-ES" dirty="0" err="1"/>
              <a:t>energia_total</a:t>
            </a:r>
            <a:r>
              <a:rPr lang="es-ES" dirty="0"/>
              <a:t>} unidades.")</a:t>
            </a:r>
          </a:p>
          <a:p>
            <a:endParaRPr lang="es-ES" dirty="0"/>
          </a:p>
          <a:p>
            <a:r>
              <a:rPr lang="es-ES" dirty="0"/>
              <a:t># 4. Finalización: Una vez que sale del bucle es porque llegó a 100 o más</a:t>
            </a:r>
          </a:p>
          <a:p>
            <a:r>
              <a:rPr lang="es-ES" dirty="0" err="1"/>
              <a:t>print</a:t>
            </a:r>
            <a:r>
              <a:rPr lang="es-ES" dirty="0"/>
              <a:t>("\n" + "="*30)</a:t>
            </a:r>
          </a:p>
          <a:p>
            <a:r>
              <a:rPr lang="es-ES" dirty="0" err="1"/>
              <a:t>print</a:t>
            </a:r>
            <a:r>
              <a:rPr lang="es-ES" dirty="0"/>
              <a:t>("¡ENERGÍA COMPLETA! ")</a:t>
            </a:r>
          </a:p>
          <a:p>
            <a:r>
              <a:rPr lang="es-ES" dirty="0" err="1"/>
              <a:t>print</a:t>
            </a:r>
            <a:r>
              <a:rPr lang="es-ES" dirty="0"/>
              <a:t>("Despegando en 3... 2... 1... ")</a:t>
            </a:r>
          </a:p>
          <a:p>
            <a:r>
              <a:rPr lang="es-ES" dirty="0" err="1"/>
              <a:t>print</a:t>
            </a:r>
            <a:r>
              <a:rPr lang="es-ES" dirty="0"/>
              <a:t>("="*30)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23437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9FBC1-7472-77EA-CFC4-08D07416D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6590" y="0"/>
            <a:ext cx="10302240" cy="949023"/>
          </a:xfrm>
        </p:spPr>
        <p:txBody>
          <a:bodyPr/>
          <a:lstStyle/>
          <a:p>
            <a:r>
              <a:rPr lang="es-CL" dirty="0"/>
              <a:t>"La Misión Espacial"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5F2EB8-2C13-5F57-1668-EB567A1A5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6590" y="2077375"/>
            <a:ext cx="10302237" cy="4110361"/>
          </a:xfrm>
        </p:spPr>
        <p:txBody>
          <a:bodyPr>
            <a:normAutofit fontScale="85000" lnSpcReduction="20000"/>
          </a:bodyPr>
          <a:lstStyle/>
          <a:p>
            <a:r>
              <a:rPr lang="es-ES" b="1" dirty="0"/>
              <a:t>Instrucciones:</a:t>
            </a:r>
            <a:r>
              <a:rPr lang="es-ES" dirty="0"/>
              <a:t> </a:t>
            </a:r>
          </a:p>
          <a:p>
            <a:r>
              <a:rPr lang="es-ES" dirty="0"/>
              <a:t>Estás en una nave espacial que necesita 100 unidades de energía para despegar. Debes crear un programa que haga lo siguiente:</a:t>
            </a:r>
          </a:p>
          <a:p>
            <a:endParaRPr lang="es-ES" dirty="0"/>
          </a:p>
          <a:p>
            <a:r>
              <a:rPr lang="es-ES" dirty="0"/>
              <a:t>Crear una variable </a:t>
            </a:r>
            <a:r>
              <a:rPr lang="es-ES" dirty="0" err="1"/>
              <a:t>energia_total</a:t>
            </a:r>
            <a:r>
              <a:rPr lang="es-ES" dirty="0"/>
              <a:t> = 0.</a:t>
            </a:r>
          </a:p>
          <a:p>
            <a:r>
              <a:rPr lang="es-ES" dirty="0"/>
              <a:t>Usar un </a:t>
            </a:r>
            <a:r>
              <a:rPr lang="es-ES" dirty="0" err="1"/>
              <a:t>while</a:t>
            </a:r>
            <a:r>
              <a:rPr lang="es-ES" dirty="0"/>
              <a:t> que se repita </a:t>
            </a:r>
            <a:r>
              <a:rPr lang="es-ES" b="1" dirty="0"/>
              <a:t>mientras</a:t>
            </a:r>
            <a:r>
              <a:rPr lang="es-ES" dirty="0"/>
              <a:t> la energía sea menor a 100.</a:t>
            </a:r>
          </a:p>
          <a:p>
            <a:r>
              <a:rPr lang="es-ES" dirty="0"/>
              <a:t>Dentro del bucle, pedir al usuario: "Ingrese cantidad de energía cargada: ".</a:t>
            </a:r>
          </a:p>
          <a:p>
            <a:r>
              <a:rPr lang="es-ES" dirty="0"/>
              <a:t>Sumar esa cantidad a la </a:t>
            </a:r>
            <a:r>
              <a:rPr lang="es-ES" dirty="0" err="1"/>
              <a:t>energia_total</a:t>
            </a:r>
            <a:r>
              <a:rPr lang="es-ES" dirty="0"/>
              <a:t>.</a:t>
            </a:r>
          </a:p>
          <a:p>
            <a:r>
              <a:rPr lang="es-ES" dirty="0"/>
              <a:t>Si la energía llega a 100 o más, salir del bucle y mostrar: "¡Energía completa! Despegando... 🚀".</a:t>
            </a:r>
          </a:p>
          <a:p>
            <a:endParaRPr lang="es-ES" dirty="0"/>
          </a:p>
          <a:p>
            <a:r>
              <a:rPr lang="es-ES" b="1" dirty="0"/>
              <a:t>Puntos extra:</a:t>
            </a:r>
            <a:r>
              <a:rPr lang="es-ES" dirty="0"/>
              <a:t> Si el usuario ingresa un número negativo, usa un ..  para mostrar un mensaje: "Error: No puedes quitar energía".</a:t>
            </a:r>
          </a:p>
          <a:p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BF02D12-24CD-5C2B-7C91-8A696A027FAE}"/>
              </a:ext>
            </a:extLst>
          </p:cNvPr>
          <p:cNvSpPr txBox="1"/>
          <p:nvPr/>
        </p:nvSpPr>
        <p:spPr>
          <a:xfrm>
            <a:off x="2692154" y="108218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Este ejercicio mezcla </a:t>
            </a:r>
            <a:r>
              <a:rPr lang="es-ES" b="1" dirty="0">
                <a:solidFill>
                  <a:schemeClr val="bg1"/>
                </a:solidFill>
              </a:rPr>
              <a:t>Contadores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b="1" dirty="0">
                <a:solidFill>
                  <a:schemeClr val="bg1"/>
                </a:solidFill>
              </a:rPr>
              <a:t>Acumuladores</a:t>
            </a:r>
            <a:r>
              <a:rPr lang="es-ES" dirty="0">
                <a:solidFill>
                  <a:schemeClr val="bg1"/>
                </a:solidFill>
              </a:rPr>
              <a:t> e </a:t>
            </a:r>
            <a:r>
              <a:rPr lang="es-ES" b="1" dirty="0">
                <a:solidFill>
                  <a:schemeClr val="bg1"/>
                </a:solidFill>
              </a:rPr>
              <a:t>IF</a:t>
            </a:r>
            <a:r>
              <a:rPr lang="es-ES" dirty="0">
                <a:solidFill>
                  <a:schemeClr val="bg1"/>
                </a:solidFill>
              </a:rPr>
              <a:t>.</a:t>
            </a:r>
            <a:endParaRPr lang="es-C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09130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70_TF89338750_Win32" id="{E492AF64-DD59-444B-B710-ABE53F005779}" vid="{53C34969-EE9A-485C-9F8C-4E21061E057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DF5E72EF5AFE40B8C13C9FDDBBDDC4" ma:contentTypeVersion="9" ma:contentTypeDescription="Create a new document." ma:contentTypeScope="" ma:versionID="9dc1cbe20f852d820ab786f0ec5a69d2">
  <xsd:schema xmlns:xsd="http://www.w3.org/2001/XMLSchema" xmlns:xs="http://www.w3.org/2001/XMLSchema" xmlns:p="http://schemas.microsoft.com/office/2006/metadata/properties" xmlns:ns3="bd101d8b-ff64-4076-b8ae-32b73fdb90d4" targetNamespace="http://schemas.microsoft.com/office/2006/metadata/properties" ma:root="true" ma:fieldsID="b16ad62e8496978780fcf3575a9b9b45" ns3:_="">
    <xsd:import namespace="bd101d8b-ff64-4076-b8ae-32b73fdb90d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_activity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101d8b-ff64-4076-b8ae-32b73fdb90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d101d8b-ff64-4076-b8ae-32b73fdb90d4" xsi:nil="true"/>
  </documentManagement>
</p:properties>
</file>

<file path=customXml/itemProps1.xml><?xml version="1.0" encoding="utf-8"?>
<ds:datastoreItem xmlns:ds="http://schemas.openxmlformats.org/officeDocument/2006/customXml" ds:itemID="{BA621D0C-86C8-46CE-B621-9315E0CDBF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101d8b-ff64-4076-b8ae-32b73fdb90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E87F72-70BF-43BC-A0D4-53665DC12672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openxmlformats.org/package/2006/metadata/core-properties"/>
    <ds:schemaRef ds:uri="bd101d8b-ff64-4076-b8ae-32b73fdb90d4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1939</Words>
  <Application>Microsoft Office PowerPoint</Application>
  <PresentationFormat>Panorámica</PresentationFormat>
  <Paragraphs>203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ADLaM Display</vt:lpstr>
      <vt:lpstr>Arial</vt:lpstr>
      <vt:lpstr>Calibri</vt:lpstr>
      <vt:lpstr>Courier New</vt:lpstr>
      <vt:lpstr>Google Sans Text</vt:lpstr>
      <vt:lpstr>Univers</vt:lpstr>
      <vt:lpstr>GradientVTI</vt:lpstr>
      <vt:lpstr>Clase 5   bucle while</vt:lpstr>
      <vt:lpstr>Aprendizaje esperado</vt:lpstr>
      <vt:lpstr>El bucle while es el motor que permite que un programa se mantenga "vivo".  Hasta ahora, tus programas se ejecutaban una vez y se cerraban;  con el while, el código se repite mientras una condición sea verdadera.</vt:lpstr>
      <vt:lpstr>Definición y Analogía</vt:lpstr>
      <vt:lpstr>Estructura básica </vt:lpstr>
      <vt:lpstr>. El uso de break y continue en el while</vt:lpstr>
      <vt:lpstr> Sirve para ignorar el resto del código en la vuelta actual y saltar directo a la siguiente comparación del while. Caso de uso: Saltar números impares o ignorar datos inválidos sin cerrar el programa. </vt:lpstr>
      <vt:lpstr>Presentación de PowerPoint</vt:lpstr>
      <vt:lpstr>Diferencia Crítica: while vs if</vt:lpstr>
      <vt:lpstr>Casos de uso del while</vt:lpstr>
      <vt:lpstr>Ejercicio : "El Menú Infinito"</vt:lpstr>
      <vt:lpstr>Ejercicio Resuelto: El Validador de Notas (Protección de datos)</vt:lpstr>
      <vt:lpstr>Ejercicio Resuelto: Cajero Automático (Uso de break)</vt:lpstr>
      <vt:lpstr>Presentación de PowerPoint</vt:lpstr>
      <vt:lpstr>Presentación de PowerPoint</vt:lpstr>
      <vt:lpstr>"La Misión Espacial"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Ignacio Carrasco Zura</dc:creator>
  <cp:lastModifiedBy>Patricio Ignacio Carrasco Zura</cp:lastModifiedBy>
  <cp:revision>2</cp:revision>
  <dcterms:created xsi:type="dcterms:W3CDTF">2026-03-23T01:36:03Z</dcterms:created>
  <dcterms:modified xsi:type="dcterms:W3CDTF">2026-03-24T13:00:52Z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0x01010039DF5E72EF5AFE40B8C13C9FDDBBDDC4</vt:lpwstr>
  </property>
</Properties>
</file>